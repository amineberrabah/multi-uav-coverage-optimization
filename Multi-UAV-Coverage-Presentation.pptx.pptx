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95" r:id="rId4"/>
  </p:sldMasterIdLst>
  <p:notesMasterIdLst>
    <p:notesMasterId r:id="rId42"/>
  </p:notesMasterIdLst>
  <p:sldIdLst>
    <p:sldId id="256" r:id="rId5"/>
    <p:sldId id="257" r:id="rId6"/>
    <p:sldId id="258" r:id="rId7"/>
    <p:sldId id="264" r:id="rId8"/>
    <p:sldId id="265" r:id="rId9"/>
    <p:sldId id="268" r:id="rId10"/>
    <p:sldId id="260" r:id="rId11"/>
    <p:sldId id="261" r:id="rId12"/>
    <p:sldId id="267" r:id="rId13"/>
    <p:sldId id="269" r:id="rId14"/>
    <p:sldId id="287" r:id="rId15"/>
    <p:sldId id="286" r:id="rId16"/>
    <p:sldId id="291" r:id="rId17"/>
    <p:sldId id="288" r:id="rId18"/>
    <p:sldId id="289" r:id="rId19"/>
    <p:sldId id="292" r:id="rId20"/>
    <p:sldId id="270" r:id="rId21"/>
    <p:sldId id="271" r:id="rId22"/>
    <p:sldId id="273" r:id="rId23"/>
    <p:sldId id="279" r:id="rId24"/>
    <p:sldId id="280" r:id="rId25"/>
    <p:sldId id="297" r:id="rId26"/>
    <p:sldId id="298" r:id="rId27"/>
    <p:sldId id="299" r:id="rId28"/>
    <p:sldId id="282" r:id="rId29"/>
    <p:sldId id="293" r:id="rId30"/>
    <p:sldId id="290" r:id="rId31"/>
    <p:sldId id="300" r:id="rId32"/>
    <p:sldId id="309" r:id="rId33"/>
    <p:sldId id="302" r:id="rId34"/>
    <p:sldId id="304" r:id="rId35"/>
    <p:sldId id="310" r:id="rId36"/>
    <p:sldId id="303" r:id="rId37"/>
    <p:sldId id="305" r:id="rId38"/>
    <p:sldId id="306" r:id="rId39"/>
    <p:sldId id="307" r:id="rId40"/>
    <p:sldId id="308" r:id="rId41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D0C5B4DF-1706-4108-89C9-1A2B992FF8FC}">
          <p14:sldIdLst>
            <p14:sldId id="256"/>
            <p14:sldId id="257"/>
            <p14:sldId id="258"/>
            <p14:sldId id="264"/>
            <p14:sldId id="265"/>
          </p14:sldIdLst>
        </p14:section>
        <p14:section name="Untitled Section" id="{19785DE3-B258-4325-802F-B8983CCB03D9}">
          <p14:sldIdLst>
            <p14:sldId id="268"/>
            <p14:sldId id="260"/>
            <p14:sldId id="261"/>
            <p14:sldId id="267"/>
            <p14:sldId id="269"/>
            <p14:sldId id="287"/>
            <p14:sldId id="286"/>
            <p14:sldId id="291"/>
            <p14:sldId id="288"/>
            <p14:sldId id="289"/>
            <p14:sldId id="292"/>
            <p14:sldId id="270"/>
            <p14:sldId id="271"/>
            <p14:sldId id="273"/>
            <p14:sldId id="279"/>
            <p14:sldId id="280"/>
            <p14:sldId id="297"/>
            <p14:sldId id="298"/>
            <p14:sldId id="299"/>
            <p14:sldId id="282"/>
            <p14:sldId id="293"/>
            <p14:sldId id="290"/>
            <p14:sldId id="300"/>
            <p14:sldId id="309"/>
            <p14:sldId id="302"/>
            <p14:sldId id="304"/>
            <p14:sldId id="310"/>
            <p14:sldId id="303"/>
            <p14:sldId id="305"/>
            <p14:sldId id="306"/>
            <p14:sldId id="307"/>
            <p14:sldId id="30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1F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910" autoAdjust="0"/>
  </p:normalViewPr>
  <p:slideViewPr>
    <p:cSldViewPr snapToGrid="0">
      <p:cViewPr varScale="1">
        <p:scale>
          <a:sx n="49" d="100"/>
          <a:sy n="49" d="100"/>
        </p:scale>
        <p:origin x="1312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2841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 Bonjour à toutes et à tous </a:t>
            </a:r>
          </a:p>
          <a:p>
            <a:r>
              <a:rPr lang="fr-FR" dirty="0"/>
              <a:t>je suis l'étudiant berrabah Mohamed Amine et mon binôme Chadli Mehdi.</a:t>
            </a:r>
          </a:p>
          <a:p>
            <a:r>
              <a:rPr lang="fr-FR" dirty="0"/>
              <a:t>Nous vous remercions de nous accorder ce moment pour vous présenter notre travail de fin d’études intitulé optimisation du déploiement et de la couverture collaborative d'un système multi UAV par 2 approches </a:t>
            </a:r>
            <a:r>
              <a:rPr lang="fr-FR" dirty="0" err="1"/>
              <a:t>loyd</a:t>
            </a:r>
            <a:r>
              <a:rPr lang="fr-FR" dirty="0"/>
              <a:t> et CNN.</a:t>
            </a:r>
          </a:p>
          <a:p>
            <a:r>
              <a:rPr lang="fr-FR" dirty="0"/>
              <a:t> Avant de  commencer nous voudrons également remercier notre encadrante Madame </a:t>
            </a:r>
            <a:r>
              <a:rPr lang="fr-FR" dirty="0" err="1"/>
              <a:t>Benmahdi</a:t>
            </a:r>
            <a:r>
              <a:rPr lang="fr-FR" dirty="0"/>
              <a:t>,</a:t>
            </a:r>
          </a:p>
          <a:p>
            <a:r>
              <a:rPr lang="fr-FR" dirty="0"/>
              <a:t> Son accompagnement et ses conseils tout au long de la réalisation de ce travail.</a:t>
            </a:r>
          </a:p>
          <a:p>
            <a:r>
              <a:rPr lang="fr-FR" dirty="0"/>
              <a:t> Sans plus tarder,  on va ensemble le plan de notre exposé.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 commençons par des Généralité sur les UAV</a:t>
            </a:r>
          </a:p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Ensuite, la problématique</a:t>
            </a:r>
          </a:p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Ensuite on présente notre contribution</a:t>
            </a:r>
          </a:p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va voir la simulation ensemble</a:t>
            </a:r>
          </a:p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Après on discute les résultats de cette simulation</a:t>
            </a:r>
          </a:p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Enfin on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cloture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 une conclusion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 err="1"/>
              <a:t>Présentation</a:t>
            </a:r>
            <a:r>
              <a:rPr lang="en-US" b="1" dirty="0"/>
              <a:t> des UAV.</a:t>
            </a:r>
          </a:p>
          <a:p>
            <a:r>
              <a:rPr lang="en-US" b="1" dirty="0" err="1"/>
              <a:t>C’est</a:t>
            </a:r>
            <a:r>
              <a:rPr lang="en-US" b="1" dirty="0"/>
              <a:t> quoi un UAV 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 UAV ou drone, est un aéronef sans pilote embarqué capable d’effectuer des missions de manière autonome ou pilotée à distance grâce à des capteurs, des systèmes de communication et des algorithmes de contrôle.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Les drones sont aujourd'hui utilisés dans plusieurs domaines tels que le domaine militaire, le domaine civile comme la surveillance, la sécurité et ainsi de suite.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b="1" noProof="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sz="1200" noProof="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 dans ce diapo on va voir 2 catégories des systèmes </a:t>
            </a:r>
            <a:r>
              <a:rPr lang="fr-FR" dirty="0" err="1"/>
              <a:t>uav</a:t>
            </a:r>
            <a:endParaRPr lang="fr-FR" dirty="0"/>
          </a:p>
          <a:p>
            <a:endParaRPr lang="fr-FR" dirty="0"/>
          </a:p>
          <a:p>
            <a:r>
              <a:rPr lang="fr-FR" dirty="0"/>
              <a:t> le mono </a:t>
            </a:r>
            <a:r>
              <a:rPr lang="fr-FR" dirty="0" err="1"/>
              <a:t>uav</a:t>
            </a:r>
            <a:r>
              <a:rPr lang="fr-FR" dirty="0"/>
              <a:t>:  qui se repose sur un seul drone simple à déployer mais sa scalabilité est limitée</a:t>
            </a:r>
          </a:p>
          <a:p>
            <a:endParaRPr lang="fr-FR" dirty="0"/>
          </a:p>
          <a:p>
            <a:r>
              <a:rPr lang="fr-FR" dirty="0"/>
              <a:t> par contre le multi </a:t>
            </a:r>
            <a:r>
              <a:rPr lang="fr-FR" dirty="0" err="1"/>
              <a:t>uav</a:t>
            </a:r>
            <a:r>
              <a:rPr lang="fr-FR" dirty="0"/>
              <a:t>  On peut le définir </a:t>
            </a:r>
            <a:r>
              <a:rPr lang="fr-FR" dirty="0" err="1"/>
              <a:t>commme</a:t>
            </a:r>
            <a:r>
              <a:rPr lang="fr-FR" dirty="0"/>
              <a:t> plusieurs drone  coordonnées qui offre une couverture spatiale élargie,  tolérance au panne, ainsi qu’un parallélisme des tâches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système UAV complet est appelé UAS.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contient plusieurs parties importantes.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segment aérien représente les drones et leurs capteurs.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segment sol permet la supervision et le contrôle des missions.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lien de communication assure l’échange des données.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Enfin, le système de planification permet d’organiser les trajectoires et les tâches des drones.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Tous ces éléments travaillent ensemble pour assurer le bon déroulement de la mission.</a:t>
            </a:r>
            <a:endParaRPr lang="fr-FR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systèmes multi-UAV rencontrent plusieurs défis.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premier défi est l’énergie, car les drones ont une autonomie limitée.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deuxième défi concerne la communication entre les drones.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existe aussi des problèmes de passage à l’échelle lorsque le nombre de drones augmente.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Enfin, il faut gérer la sécurité, éviter les collisions et assurer la tolérance aux pannes.</a:t>
            </a:r>
            <a:endParaRPr lang="fr-FR" b="0" dirty="0">
              <a:effectLst/>
            </a:endParaRPr>
          </a:p>
          <a:p>
            <a:br>
              <a:rPr lang="fr-FR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Notre problématique est la suivante :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 optimiser le déploiement et la couverture collaborative d’un système multi-UAV tout en respectant les contraintes énergétiques et les priorités des cibles ?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répondre à cette question, nous devons :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déterminer le nombre optimal de drones,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équilibrer la charge entre eux,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gérer les priorités des cibles avec une énergie limitée.</a:t>
            </a:r>
            <a:endParaRPr lang="fr-FR" b="0" dirty="0">
              <a:effectLst/>
            </a:endParaRPr>
          </a:p>
          <a:p>
            <a:br>
              <a:rPr lang="fr-FR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Notre travail possède plusieurs objectifs.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maximiser le taux de couverture et réduire les zones non couvertes.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voulons aussi équilibrer la charge entre les drones.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autre objectif est d’assurer une visite efficace des cibles tout en réduisant la consommation énergétique.</a:t>
            </a:r>
            <a:endParaRPr lang="fr-FR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couverture collaborative représente la capacité des drones à surveiller efficacement une zone ou un ensemble de cibles.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point est considéré couvert lorsqu’il se trouve dans le rayon de détection d’un drone.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évaluer la qualité de la couverture, nous utilisons plusieurs métriques comme le taux de couverture, le taux de chevauchement, la variance de charge et la consommation énergétique.</a:t>
            </a:r>
            <a:endParaRPr lang="fr-FR" b="0" dirty="0">
              <a:effectLst/>
            </a:endParaRPr>
          </a:p>
          <a:p>
            <a:br>
              <a:rPr lang="fr-FR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 la littérature, plusieurs méthodes existent pour résoudre le problème de couverture collaborative.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méthodes classiques utilisent des techniques d’optimisation comme PSO ou les algorithmes génétiques.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méthodes géométriques utilisent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Voronoï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et Lloyd.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Enfin, les méthodes basées sur l’intelligence artificielle utilisent des réseaux de neurones comme les CNN.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 notre travail, nous avons comparé Lloyd et CNN.</a:t>
            </a:r>
            <a:endParaRPr lang="fr-FR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Notre contribution est organisée en trois étapes principales.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première étape concerne la configuration du réseau de drones.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deuxième étape consiste à organiser la visite des cibles.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Enfin, la troisième étape concerne la maintenance énergétique des drones.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architecture permet d’améliorer la couverture collaborative tout en prenant en compte l’énergie et les priorités.</a:t>
            </a:r>
            <a:endParaRPr lang="fr-FR" b="0" dirty="0">
              <a:effectLst/>
            </a:endParaRPr>
          </a:p>
          <a:p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357176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Nous avons utilisé 4 métriques pour évaluer notre configuration .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234336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mesure le pourcentage de cibles ou de la zone couverte par les drones.</a:t>
            </a: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il est définie par …. 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 taux élevé il indique une meilleure qualité de surveillance.</a:t>
            </a:r>
            <a:endParaRPr lang="fr-FR" b="0" dirty="0">
              <a:effectLst/>
            </a:endParaRPr>
          </a:p>
          <a:p>
            <a:br>
              <a:rPr lang="fr-FR" dirty="0"/>
            </a:b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333535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variance de charge mesure la répartition des cibles entre les UAV. </a:t>
            </a:r>
          </a:p>
          <a:p>
            <a:pPr rtl="0"/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définie par ….. </a:t>
            </a:r>
            <a:endParaRPr lang="fr-FR" b="0" dirty="0">
              <a:effectLst/>
            </a:endParaRPr>
          </a:p>
          <a:p>
            <a:pPr rtl="0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nombre total de drones</a:t>
            </a:r>
            <a:endParaRPr lang="fr-FR" b="0" dirty="0">
              <a:effectLst/>
            </a:endParaRPr>
          </a:p>
          <a:p>
            <a:pPr rtl="0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Nᵢ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nombre de cibles du drone i</a:t>
            </a:r>
            <a:endParaRPr lang="fr-FR" b="0" dirty="0">
              <a:effectLst/>
            </a:endParaRPr>
          </a:p>
          <a:p>
            <a:pPr rtl="0"/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N̄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moyenne de cibles par drone</a:t>
            </a:r>
          </a:p>
          <a:p>
            <a:pPr rtl="0"/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variance faible signifie que la charge est équilibrée entre les drones</a:t>
            </a:r>
            <a:endParaRPr lang="fr-FR" b="0" dirty="0">
              <a:effectLst/>
            </a:endParaRPr>
          </a:p>
          <a:p>
            <a:br>
              <a:rPr lang="fr-FR" dirty="0"/>
            </a:b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1942907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coût total est une fonction combinée qui intègre le taux de couverture et la variance.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fonction …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avec des poids α = 0,6 pour la couverture et β = 0,4 pour la variance.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seuil détermine si un nouveau drone doit être ajouté pour améliorer la configuration lorsque le coût dépasse une valeur critique.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donc sa fonction …</a:t>
            </a:r>
            <a:endParaRPr lang="fr-FR" b="0" dirty="0">
              <a:effectLst/>
            </a:endParaRPr>
          </a:p>
          <a:p>
            <a:br>
              <a:rPr lang="fr-FR" dirty="0"/>
            </a:b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795883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première étape consiste à déterminer le nombre de drones nécessaires et leurs positions initiales.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L’objectif est de répartir efficacement les drones afin de maximiser la couverture et réduire les chevauchements.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cette étape, nous avons étudié deux approches : l’algorithme de Lloyd et les réseaux CNN.</a:t>
            </a:r>
            <a:endParaRPr lang="fr-FR" b="0" dirty="0">
              <a:effectLst/>
            </a:endParaRPr>
          </a:p>
          <a:p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1544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diagramme de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Voronoï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permet de diviser la zone en plusieurs régions.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région appartient au drone le plus proche.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méthode facilite la répartition des zones entre les drones.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permet aussi de réduire les chevauchements et d’améliorer l’équilibrage de la charge.</a:t>
            </a:r>
            <a:endParaRPr lang="fr-FR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L’algorithme de Lloyd fonctionne de manière itérative.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drones sont d’abord placés dans la zone.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Ensuite, un diagramme de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Voronoï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est construit et le centroïde de chaque cellule est calculé.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Chaque drone se déplace alors vers son centroïde jusqu’à obtenir une </a:t>
            </a:r>
            <a:r>
              <a:rPr lang="fr-FR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convergence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stable.</a:t>
            </a:r>
            <a:endParaRPr lang="fr-FR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L’approche CNN utilise l’intelligence artificielle pour prédire directement les positions optimales des drones.</a:t>
            </a:r>
            <a:b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réseau analyse une image représentant l’environnement et les cibles.</a:t>
            </a:r>
            <a:b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module Actor prédit les positions des drones tandis que le module </a:t>
            </a:r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Critic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évalue la qualité de la couverture.</a:t>
            </a:r>
            <a:b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approche permet une meilleure adaptation aux environnements complexes.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L’approche Lloyd repose sur des calculs géométriques itératifs.</a:t>
            </a:r>
            <a:b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Elle est simple mais peut converger vers un optimum local.</a:t>
            </a:r>
            <a:b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L’approche CNN prend des décisions globales grâce à l’apprentissage profond.</a:t>
            </a:r>
            <a:endParaRPr lang="fr-FR" b="0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 passe à la deuxième étape qui consiste à la visite des cibles.</a:t>
            </a: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avons défini trois niveaux de priorité pour les cibles : haute priorité avec un poids de 3, priorité moyenne avec un poids de 2, et basse priorité avec un poids de 1, répartis à raison d'un tiers chacun.</a:t>
            </a:r>
          </a:p>
          <a:p>
            <a:pPr rtl="0"/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proposons Trois méthodes : la méthode P/D basée sur un score poids/distance, la méthode PDP fondée et la méthode PVE </a:t>
            </a:r>
          </a:p>
          <a:p>
            <a:pPr rtl="0"/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pour simuler des conditions réalistes, 20 nouvelles cibles sont ajoutées aléatoire en cours de mission.</a:t>
            </a:r>
            <a:endParaRPr lang="fr-FR" b="0" dirty="0">
              <a:effectLst/>
            </a:endParaRPr>
          </a:p>
          <a:p>
            <a:br>
              <a:rPr lang="fr-FR" dirty="0"/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rtl="0"/>
            <a:r>
              <a:rPr lang="fr-FR" sz="1200" b="0" i="0" u="none" strike="noStrike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commencon</a:t>
            </a: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 par la méthode P/D.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basé sur son poids et sa distance au drone.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 score est calculé par la formule ……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 donc Le drone vise toujours le score le plus élevé.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méthode ne prend pas en compte le temps écoulé depuis la dernière visite,  ce qui peut conduire à des cibles  jamais visitées</a:t>
            </a:r>
            <a:endParaRPr lang="fr-FR" b="0" dirty="0">
              <a:effectLst/>
            </a:endParaRPr>
          </a:p>
          <a:p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35220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méthode PDP améliore la méthode précédente en  intégrant trois facteurs : le poids de la cible, le temps écoulé et la distance.</a:t>
            </a:r>
          </a:p>
          <a:p>
            <a:pPr rtl="0"/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cible longtemps non visité, son score sera augmenter donc elle redevient prioritaire.</a:t>
            </a:r>
          </a:p>
          <a:p>
            <a:pPr rtl="0"/>
            <a:endParaRPr lang="fr-FR" sz="1200" b="0" i="0" u="none" strike="noStrike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 score est calculé</a:t>
            </a:r>
          </a:p>
          <a:p>
            <a:pPr rtl="0"/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 seule  méthode qui garantit le nombre de visites requis par cible selon sa priorité </a:t>
            </a:r>
            <a:endParaRPr lang="fr-FR" b="0" dirty="0">
              <a:effectLst/>
            </a:endParaRPr>
          </a:p>
          <a:p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648386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Char char="▪"/>
            </a:pPr>
            <a:r>
              <a:rPr lang="fr-FR" sz="1200" b="1" noProof="0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Chaque cible génère un champ de potentiel gaussien attractif autour d'elle.</a:t>
            </a: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Char char="▪"/>
            </a:pPr>
            <a:endParaRPr lang="fr-FR" sz="12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Char char="▪"/>
            </a:pPr>
            <a:r>
              <a:rPr lang="fr-FR" sz="1200" b="1" noProof="0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Le drone suit le gradient du champ combiné de toutes les cibles.</a:t>
            </a: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Char char="▪"/>
            </a:pPr>
            <a:endParaRPr lang="fr-FR" sz="12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Char char="▪"/>
            </a:pPr>
            <a:r>
              <a:rPr lang="fr-FR" sz="1200" b="1" noProof="0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Permet de couvrir plusieurs cibles proches en un seul passage.</a:t>
            </a: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Char char="▪"/>
            </a:pPr>
            <a:endParaRPr lang="fr-FR" sz="1200" b="1" noProof="0" dirty="0">
              <a:solidFill>
                <a:srgbClr val="13294B"/>
              </a:solidFill>
              <a:latin typeface="Calibri" panose="020F0502020204030204" pitchFamily="34" charset="0"/>
              <a:ea typeface="Calibri" pitchFamily="34" charset="-122"/>
              <a:cs typeface="Calibri" panose="020F0502020204030204" pitchFamily="34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FontTx/>
              <a:buChar char="▪"/>
            </a:pPr>
            <a:r>
              <a:rPr lang="fr-FR" sz="1200" b="1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Le champ est calculé par la formule suivantes …..</a:t>
            </a: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FontTx/>
              <a:buChar char="▪"/>
            </a:pPr>
            <a:endParaRPr lang="fr-FR" sz="12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Char char="▪"/>
            </a:pPr>
            <a:r>
              <a:rPr lang="fr-FR" sz="1200" b="1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une</a:t>
            </a:r>
            <a:r>
              <a:rPr lang="fr-FR" sz="1200" b="1" noProof="0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consommation d’énergie faible par rapport </a:t>
            </a:r>
            <a:r>
              <a:rPr lang="fr-FR" sz="1200" b="1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aux </a:t>
            </a:r>
            <a:r>
              <a:rPr lang="fr-FR" sz="1200" b="1" noProof="0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autres méthodes</a:t>
            </a:r>
            <a:endParaRPr lang="fr-FR" sz="12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4270665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Dans cette étape, nous avons intégré un modèle énergétique pour gérer l’autonomie des drones.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Lorsque le niveau de batterie devient faible, le drone retourne automatiquement à la station de base pour se recharger.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Après la recharge, il reprend sa mission.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stratégie améliore la continuité du service. </a:t>
            </a:r>
            <a:endParaRPr lang="fr-FR" b="0" dirty="0">
              <a:effectLst/>
            </a:endParaRPr>
          </a:p>
          <a:p>
            <a:br>
              <a:rPr lang="fr-FR" dirty="0"/>
            </a:b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Pour tester notre approche, nous avons réalisé plusieurs simulations sous Python.</a:t>
            </a:r>
            <a:br>
              <a:rPr lang="fr-FR" dirty="0"/>
            </a:br>
            <a:r>
              <a:rPr lang="fr-FR" dirty="0"/>
              <a:t>Nous avons utilisé une flotte homogène de drones avec les mêmes caractéristiques.</a:t>
            </a:r>
            <a:br>
              <a:rPr lang="fr-FR" dirty="0"/>
            </a:br>
            <a:r>
              <a:rPr lang="fr-FR" dirty="0"/>
              <a:t>Les simulations ont été réalisées sur différentes tailles de zones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(100 sur 100 pour le </a:t>
            </a:r>
            <a:r>
              <a:rPr lang="fr-FR" dirty="0" err="1"/>
              <a:t>senario</a:t>
            </a:r>
            <a:r>
              <a:rPr lang="fr-FR" dirty="0"/>
              <a:t> a petite échelle avec 100 cibles </a:t>
            </a:r>
            <a:br>
              <a:rPr lang="fr-FR" dirty="0"/>
            </a:br>
            <a:r>
              <a:rPr lang="fr-FR" dirty="0"/>
              <a:t>et 1000 sur 1000 lors du passage a l’échelle avec 200 cibles) </a:t>
            </a:r>
            <a:br>
              <a:rPr lang="fr-FR" dirty="0"/>
            </a:br>
            <a:r>
              <a:rPr lang="fr-FR" dirty="0"/>
              <a:t>Cela permet d’évaluer les performances dans différents scénarios.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494308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La </a:t>
            </a:r>
            <a:r>
              <a:rPr lang="fr-FR" sz="1200" b="0" i="0" noProof="0" dirty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Modelé énergétique</a:t>
            </a:r>
            <a:r>
              <a:rPr lang="fr-FR" dirty="0"/>
              <a:t> représente l’énergie utilisée pendant les déplacements, les visites des cibles et les communications.</a:t>
            </a:r>
            <a:br>
              <a:rPr lang="fr-FR" dirty="0"/>
            </a:br>
            <a:r>
              <a:rPr lang="fr-FR" dirty="0"/>
              <a:t>Cette métrique permet d’évaluer l’autonomie du système.</a:t>
            </a:r>
            <a:br>
              <a:rPr lang="fr-FR" dirty="0"/>
            </a:br>
            <a:r>
              <a:rPr lang="fr-FR" dirty="0"/>
              <a:t>Le modèle énergétique prend en compte la vitesse du drone, les capteurs et les communications avec la station de base.</a:t>
            </a:r>
          </a:p>
        </p:txBody>
      </p:sp>
    </p:spTree>
    <p:extLst>
      <p:ext uri="{BB962C8B-B14F-4D97-AF65-F5344CB8AC3E}">
        <p14:creationId xmlns:p14="http://schemas.microsoft.com/office/powerpoint/2010/main" val="103850737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Nous allons maintenant présenter une démonstration de notre contribution.</a:t>
            </a:r>
            <a:br>
              <a:rPr lang="fr-FR" dirty="0"/>
            </a:br>
            <a:r>
              <a:rPr lang="fr-FR" dirty="0"/>
              <a:t>le déploiement des drones est réalisé avec l'approche CNN.</a:t>
            </a:r>
            <a:br>
              <a:rPr lang="fr-FR" dirty="0"/>
            </a:br>
            <a:r>
              <a:rPr lang="fr-FR" dirty="0"/>
              <a:t>la visite des cibles est assurée par la méthode PDP.</a:t>
            </a:r>
          </a:p>
          <a:p>
            <a:endParaRPr lang="fr-FR"/>
          </a:p>
          <a:p>
            <a:r>
              <a:rPr lang="fr-FR"/>
              <a:t>Avec la méthode PDP, chaque drone choisit sa prochaine cible selon trois critères : la priorité de la cible, la distance et le temps écoulé depuis sa dernière visite. Ainsi, les cibles importantes et longtemps non visitées deviennent prioritaires.</a:t>
            </a:r>
          </a:p>
        </p:txBody>
      </p:sp>
    </p:spTree>
    <p:extLst>
      <p:ext uri="{BB962C8B-B14F-4D97-AF65-F5344CB8AC3E}">
        <p14:creationId xmlns:p14="http://schemas.microsoft.com/office/powerpoint/2010/main" val="245295314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rtl="0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5755437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Sur une zone de 100×100 m, le CNN atteint 97,5 % de couverture avec 10 drones, contre 94 % pour Lloyd avec 11 drones. La variance et le coût total sont également meilleurs avec le CNN : 2,000 vs 2,992 et 0,8151 vs 1,2329. 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donc les résultats montrent que ne9ra m slide </a:t>
            </a:r>
            <a:endParaRPr lang="fr-FR" b="0" dirty="0">
              <a:effectLst/>
            </a:endParaRPr>
          </a:p>
          <a:p>
            <a:br>
              <a:rPr lang="fr-FR" dirty="0"/>
            </a:b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9258636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Nous avons également étudié l'influence du rayon de détection R sur les performances.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cette influence améliore directement les performances du système multi-UAV. 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les simulation montrent que : </a:t>
            </a:r>
            <a:r>
              <a:rPr lang="fr-FR" sz="1200" b="1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slide </a:t>
            </a:r>
            <a:b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§Une portée plus importante permet à chaque drone de couvrir une surface plus grande.​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§Le taux de couverture augmente progressivement avec l'augmentation de R.​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§Le nombre de drones nécessaires peut être réduit.​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§Les zones non couvertes se diminuent.​</a:t>
            </a:r>
            <a:endParaRPr lang="fr-FR" b="0" dirty="0">
              <a:effectLst/>
            </a:endParaRPr>
          </a:p>
          <a:p>
            <a:pPr rtl="0"/>
            <a:r>
              <a:rPr lang="fr-F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Une augmentation de la portée améliore la qualité globale de la couverture collaborative, mais au-delà d'un certain seuil, le gain devient moins significatif </a:t>
            </a:r>
            <a:endParaRPr lang="fr-FR" b="0" dirty="0">
              <a:effectLst/>
            </a:endParaRPr>
          </a:p>
          <a:p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7722428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fr-FR" sz="1200" noProof="0">
                <a:latin typeface="Calibri"/>
                <a:ea typeface="Calibri"/>
                <a:cs typeface="Calibri"/>
              </a:rPr>
              <a:t>Les figures suivantes illustrent les résultats du déploiement initial des drones lors du passage à l’échelle </a:t>
            </a:r>
          </a:p>
          <a:p>
            <a:r>
              <a:rPr lang="fr-FR"/>
              <a:t>dans une zone de 1000 sur 1000 avec 200 cibles. À gauche, nous avons l'approche Lloyd, et à droite l'approche CNN.</a:t>
            </a:r>
          </a:p>
        </p:txBody>
      </p:sp>
    </p:spTree>
    <p:extLst>
      <p:ext uri="{BB962C8B-B14F-4D97-AF65-F5344CB8AC3E}">
        <p14:creationId xmlns:p14="http://schemas.microsoft.com/office/powerpoint/2010/main" val="307594746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Les résultats montrent que le CNN utilise moins de drones tout en gardant de bonnes performances.</a:t>
            </a:r>
            <a:br>
              <a:rPr lang="fr-FR"/>
            </a:br>
            <a:r>
              <a:rPr lang="fr-FR"/>
              <a:t>La variance et le coût total restent également plus faibles avec le CNN.</a:t>
            </a:r>
            <a:br>
              <a:rPr lang="fr-FR"/>
            </a:br>
            <a:r>
              <a:rPr lang="fr-FR"/>
              <a:t>Cela montre que cette approche est plus adaptée aux environnements complexes.</a:t>
            </a:r>
          </a:p>
        </p:txBody>
      </p:sp>
    </p:spTree>
    <p:extLst>
      <p:ext uri="{BB962C8B-B14F-4D97-AF65-F5344CB8AC3E}">
        <p14:creationId xmlns:p14="http://schemas.microsoft.com/office/powerpoint/2010/main" val="362752385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fr-FR"/>
              <a:t>Les trois méthodes permettent de visiter les cibles mais avec des performances différentes.</a:t>
            </a:r>
            <a:br>
              <a:rPr lang="fr-FR"/>
            </a:br>
            <a:r>
              <a:rPr lang="fr-FR"/>
              <a:t>La méthode de critère P/D est simple mais moins efficace.</a:t>
            </a:r>
            <a:br>
              <a:rPr lang="fr-FR"/>
            </a:br>
            <a:r>
              <a:rPr lang="fr-FR"/>
              <a:t>La méthode PVE améliore l’efficacité énergétique.</a:t>
            </a:r>
            <a:br>
              <a:rPr lang="fr-FR"/>
            </a:br>
            <a:r>
              <a:rPr lang="fr-FR"/>
              <a:t>Enfin, la méthode PDP donne les meilleurs résultats grâce à une meilleure gestion des priorités et des revisites.</a:t>
            </a:r>
          </a:p>
        </p:txBody>
      </p:sp>
    </p:spTree>
    <p:extLst>
      <p:ext uri="{BB962C8B-B14F-4D97-AF65-F5344CB8AC3E}">
        <p14:creationId xmlns:p14="http://schemas.microsoft.com/office/powerpoint/2010/main" val="18210403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698161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 diapositive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r>
              <a:rPr lang="fr-FR" dirty="0"/>
              <a:t>Comme perspectives, nous souhaitons étendre cette approche vers des environnements 3D et des flottes de drones hétérogènes.</a:t>
            </a:r>
            <a:br>
              <a:rPr lang="fr-FR" dirty="0"/>
            </a:br>
            <a:r>
              <a:rPr lang="fr-FR" dirty="0"/>
              <a:t>Nous voulons aussi intégrer des communications décentralisées et des techniques d’apprentissage fédéré.</a:t>
            </a:r>
            <a:br>
              <a:rPr lang="fr-FR" dirty="0"/>
            </a:br>
            <a:r>
              <a:rPr lang="fr-FR" dirty="0"/>
              <a:t>Enfin, une validation sur des plateformes réelles permettra de confirmer les performances de notre approche.</a:t>
            </a:r>
          </a:p>
        </p:txBody>
      </p:sp>
    </p:spTree>
    <p:extLst>
      <p:ext uri="{BB962C8B-B14F-4D97-AF65-F5344CB8AC3E}">
        <p14:creationId xmlns:p14="http://schemas.microsoft.com/office/powerpoint/2010/main" val="231582570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69840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24761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10707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37118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57563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70624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57722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51189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364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056946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9358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8344620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5856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6653323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1864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90075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71244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8917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62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  <p:sldLayoutId id="2147484007" r:id="rId12"/>
    <p:sldLayoutId id="2147484008" r:id="rId13"/>
    <p:sldLayoutId id="2147484009" r:id="rId14"/>
    <p:sldLayoutId id="2147484010" r:id="rId15"/>
    <p:sldLayoutId id="2147484011" r:id="rId16"/>
    <p:sldLayoutId id="2147484012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0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35"/>
          <p:cNvSpPr/>
          <p:nvPr/>
        </p:nvSpPr>
        <p:spPr>
          <a:xfrm>
            <a:off x="731520" y="4572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kern="0" spc="200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RÉPUBLIQUE ALGÉRIENNE DÉMOCRATIQUE ET POPULAIRE</a:t>
            </a:r>
            <a:endParaRPr lang="fr-FR" noProof="0" dirty="0"/>
          </a:p>
        </p:txBody>
      </p:sp>
      <p:sp>
        <p:nvSpPr>
          <p:cNvPr id="38" name="Text 36"/>
          <p:cNvSpPr/>
          <p:nvPr/>
        </p:nvSpPr>
        <p:spPr>
          <a:xfrm>
            <a:off x="731520" y="777240"/>
            <a:ext cx="10698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noProof="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Abou </a:t>
            </a:r>
            <a:r>
              <a:rPr lang="fr-FR" noProof="0" dirty="0" err="1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Bekr</a:t>
            </a:r>
            <a:r>
              <a:rPr lang="fr-FR" noProof="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Belkaïd – Tlemcen | Faculté des Sciences | Département d'Informatique</a:t>
            </a:r>
            <a:endParaRPr lang="fr-FR" noProof="0" dirty="0">
              <a:solidFill>
                <a:srgbClr val="002060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223657" y="1175657"/>
            <a:ext cx="3576175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0" name="Text 38"/>
          <p:cNvSpPr/>
          <p:nvPr/>
        </p:nvSpPr>
        <p:spPr>
          <a:xfrm>
            <a:off x="1532384" y="3079731"/>
            <a:ext cx="9454006" cy="11978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900" b="1" noProof="0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Optimisation du déploiement et de la couverture</a:t>
            </a:r>
            <a:endParaRPr lang="fr-FR" sz="2900" noProof="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fr-FR" sz="2900" b="1" noProof="0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d'un système multi-UAV par les</a:t>
            </a:r>
            <a:endParaRPr lang="fr-FR" sz="2900" noProof="0" dirty="0">
              <a:solidFill>
                <a:srgbClr val="002060"/>
              </a:solidFill>
            </a:endParaRPr>
          </a:p>
          <a:p>
            <a:pPr marL="0" indent="0" algn="ctr">
              <a:buNone/>
            </a:pPr>
            <a:r>
              <a:rPr lang="fr-FR" sz="2900" b="1" noProof="0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approches Lloyd et CNN</a:t>
            </a:r>
            <a:endParaRPr lang="fr-FR" sz="2900" noProof="0" dirty="0">
              <a:solidFill>
                <a:srgbClr val="002060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4049612" y="4094052"/>
            <a:ext cx="405460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FR" b="1" noProof="0" dirty="0"/>
          </a:p>
        </p:txBody>
      </p:sp>
      <p:sp>
        <p:nvSpPr>
          <p:cNvPr id="43" name="Text 41"/>
          <p:cNvSpPr/>
          <p:nvPr/>
        </p:nvSpPr>
        <p:spPr>
          <a:xfrm>
            <a:off x="369471" y="4723176"/>
            <a:ext cx="10905081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fr-FR" sz="2000" b="1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Réalisé par : </a:t>
            </a:r>
            <a:r>
              <a:rPr lang="fr-FR" sz="20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CHADLI El Mehdi Ibrahim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fr-FR" sz="20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          BERRABAH Mohamed Amine</a:t>
            </a:r>
            <a:endParaRPr lang="fr-FR" sz="2000" b="1" noProof="0" dirty="0"/>
          </a:p>
        </p:txBody>
      </p:sp>
      <p:sp>
        <p:nvSpPr>
          <p:cNvPr id="45" name="Text 43"/>
          <p:cNvSpPr/>
          <p:nvPr/>
        </p:nvSpPr>
        <p:spPr>
          <a:xfrm>
            <a:off x="914400" y="62179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i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Soutenu le 24 Juin 2026</a:t>
            </a:r>
            <a:endParaRPr lang="fr-FR" sz="2400" b="1" noProof="0" dirty="0"/>
          </a:p>
        </p:txBody>
      </p:sp>
      <p:pic>
        <p:nvPicPr>
          <p:cNvPr id="52" name="Image 51">
            <a:extLst>
              <a:ext uri="{FF2B5EF4-FFF2-40B4-BE49-F238E27FC236}">
                <a16:creationId xmlns:a16="http://schemas.microsoft.com/office/drawing/2014/main" id="{63927A9B-E740-AFF0-82C8-5AB1227AB6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463" y="79967"/>
            <a:ext cx="1513113" cy="1513113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41B431A8-4112-05DE-B4A2-EED42C9B5827}"/>
              </a:ext>
            </a:extLst>
          </p:cNvPr>
          <p:cNvSpPr txBox="1"/>
          <p:nvPr/>
        </p:nvSpPr>
        <p:spPr>
          <a:xfrm>
            <a:off x="3028027" y="1536041"/>
            <a:ext cx="64774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2000" b="1" noProof="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Mémoire de fin d'études — Master en Informatique</a:t>
            </a:r>
            <a:endParaRPr lang="fr-FR" sz="2000" b="1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 algn="ctr">
              <a:buNone/>
            </a:pPr>
            <a:r>
              <a:rPr lang="fr-FR" sz="2000" b="1" noProof="0" dirty="0">
                <a:latin typeface="Cambria" panose="02040503050406030204" pitchFamily="18" charset="0"/>
                <a:ea typeface="Cambria" panose="02040503050406030204" pitchFamily="18" charset="0"/>
                <a:cs typeface="Calibri" pitchFamily="34" charset="-120"/>
              </a:rPr>
              <a:t>Option : Réseaux et Systèmes Distribués (R.S.D)</a:t>
            </a:r>
            <a:endParaRPr lang="fr-FR" sz="2000" b="1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8F7460F-FC9C-F9E2-57E1-DDCFC4979C9B}"/>
              </a:ext>
            </a:extLst>
          </p:cNvPr>
          <p:cNvSpPr txBox="1"/>
          <p:nvPr/>
        </p:nvSpPr>
        <p:spPr>
          <a:xfrm>
            <a:off x="6011744" y="4870566"/>
            <a:ext cx="609777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000" b="1" noProof="0" dirty="0">
                <a:solidFill>
                  <a:schemeClr val="accent1">
                    <a:lumMod val="50000"/>
                  </a:schemeClr>
                </a:solidFill>
              </a:rPr>
              <a:t>Encadré par </a:t>
            </a:r>
            <a:r>
              <a:rPr lang="fr-FR" sz="2000" b="1" noProof="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fr-FR" sz="20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Mme BENMAHDI Meriem Bouchra</a:t>
            </a:r>
            <a:endParaRPr lang="fr-FR" sz="2000" noProof="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4850858-541A-D079-81C4-0841BDA21D32}"/>
              </a:ext>
            </a:extLst>
          </p:cNvPr>
          <p:cNvSpPr txBox="1"/>
          <p:nvPr/>
        </p:nvSpPr>
        <p:spPr>
          <a:xfrm>
            <a:off x="5079822" y="2372849"/>
            <a:ext cx="648893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Thème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fr-FR" sz="1100" noProof="0" dirty="0"/>
          </a:p>
        </p:txBody>
      </p:sp>
      <p:sp>
        <p:nvSpPr>
          <p:cNvPr id="3" name="Text 1"/>
          <p:cNvSpPr/>
          <p:nvPr/>
        </p:nvSpPr>
        <p:spPr>
          <a:xfrm>
            <a:off x="548640" y="347472"/>
            <a:ext cx="11094415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de la présentation  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865815" y="3474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FR" sz="950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801368"/>
            <a:ext cx="10058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0EA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fr-FR" sz="2600" noProof="0" dirty="0"/>
          </a:p>
        </p:txBody>
      </p:sp>
      <p:sp>
        <p:nvSpPr>
          <p:cNvPr id="9" name="Text 7"/>
          <p:cNvSpPr/>
          <p:nvPr/>
        </p:nvSpPr>
        <p:spPr>
          <a:xfrm>
            <a:off x="1282336" y="2070172"/>
            <a:ext cx="4582680" cy="57984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fr-FR" sz="2800" b="1" noProof="0" dirty="0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Généralités sur les UAV </a:t>
            </a:r>
          </a:p>
        </p:txBody>
      </p:sp>
      <p:sp>
        <p:nvSpPr>
          <p:cNvPr id="10" name="Shape 8"/>
          <p:cNvSpPr/>
          <p:nvPr/>
        </p:nvSpPr>
        <p:spPr>
          <a:xfrm>
            <a:off x="6115388" y="1682496"/>
            <a:ext cx="5524923" cy="1298448"/>
          </a:xfrm>
          <a:prstGeom prst="roundRect">
            <a:avLst>
              <a:gd name="adj" fmla="val 5634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6473952" y="1801368"/>
            <a:ext cx="10058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6B8AA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fr-FR" sz="2600" noProof="0" dirty="0"/>
          </a:p>
        </p:txBody>
      </p:sp>
      <p:sp>
        <p:nvSpPr>
          <p:cNvPr id="12" name="Text 10"/>
          <p:cNvSpPr/>
          <p:nvPr/>
        </p:nvSpPr>
        <p:spPr>
          <a:xfrm>
            <a:off x="7479792" y="18379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fr-FR" sz="2400" noProof="0" dirty="0"/>
          </a:p>
        </p:txBody>
      </p:sp>
      <p:sp>
        <p:nvSpPr>
          <p:cNvPr id="14" name="Shape 12"/>
          <p:cNvSpPr/>
          <p:nvPr/>
        </p:nvSpPr>
        <p:spPr>
          <a:xfrm>
            <a:off x="548640" y="321868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777240" y="3328416"/>
            <a:ext cx="10058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fr-FR" sz="2600" noProof="0" dirty="0"/>
          </a:p>
        </p:txBody>
      </p:sp>
      <p:sp>
        <p:nvSpPr>
          <p:cNvPr id="16" name="Text 14"/>
          <p:cNvSpPr/>
          <p:nvPr/>
        </p:nvSpPr>
        <p:spPr>
          <a:xfrm>
            <a:off x="1485537" y="3335963"/>
            <a:ext cx="3931920" cy="78638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fr-FR" sz="2800" b="1" noProof="0" dirty="0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Problématique</a:t>
            </a:r>
            <a:endParaRPr lang="fr-FR" noProof="0" dirty="0">
              <a:solidFill>
                <a:schemeClr val="tx1">
                  <a:lumMod val="76000"/>
                  <a:lumOff val="24000"/>
                </a:schemeClr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45352" y="3218688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6473952" y="3328416"/>
            <a:ext cx="10058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27AE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fr-FR" sz="2600" noProof="0" dirty="0"/>
          </a:p>
        </p:txBody>
      </p:sp>
      <p:sp>
        <p:nvSpPr>
          <p:cNvPr id="20" name="Text 18"/>
          <p:cNvSpPr/>
          <p:nvPr/>
        </p:nvSpPr>
        <p:spPr>
          <a:xfrm>
            <a:off x="7365494" y="3632851"/>
            <a:ext cx="393192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fr-FR" sz="2800" b="1" noProof="0" dirty="0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Résultats &amp; discussion</a:t>
            </a:r>
            <a:endParaRPr lang="fr-FR" sz="2800" noProof="0" dirty="0">
              <a:solidFill>
                <a:schemeClr val="tx1">
                  <a:lumMod val="76000"/>
                  <a:lumOff val="24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33264" y="3872052"/>
            <a:ext cx="4849948" cy="6306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fr-FR" sz="2000" b="1" noProof="0" dirty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48640" y="474573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b="1" noProof="0" dirty="0">
              <a:solidFill>
                <a:srgbClr val="0B1F3A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777240" y="4855464"/>
            <a:ext cx="10058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fr-FR" sz="2600" noProof="0" dirty="0"/>
          </a:p>
        </p:txBody>
      </p:sp>
      <p:sp>
        <p:nvSpPr>
          <p:cNvPr id="24" name="Text 22"/>
          <p:cNvSpPr/>
          <p:nvPr/>
        </p:nvSpPr>
        <p:spPr>
          <a:xfrm>
            <a:off x="1482811" y="4846320"/>
            <a:ext cx="43372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fr-FR" sz="2800" noProof="0" dirty="0"/>
          </a:p>
        </p:txBody>
      </p:sp>
      <p:sp>
        <p:nvSpPr>
          <p:cNvPr id="25" name="Text 23"/>
          <p:cNvSpPr/>
          <p:nvPr/>
        </p:nvSpPr>
        <p:spPr>
          <a:xfrm>
            <a:off x="1783080" y="5349240"/>
            <a:ext cx="393192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fr-FR" sz="2000" b="1" noProof="0" dirty="0">
              <a:solidFill>
                <a:srgbClr val="64748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245352" y="4745736"/>
            <a:ext cx="5394960" cy="1298448"/>
          </a:xfrm>
          <a:prstGeom prst="roundRect">
            <a:avLst>
              <a:gd name="adj" fmla="val 5634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Text 25"/>
          <p:cNvSpPr/>
          <p:nvPr/>
        </p:nvSpPr>
        <p:spPr>
          <a:xfrm>
            <a:off x="6473952" y="4855464"/>
            <a:ext cx="100584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fr-FR" sz="2600" noProof="0" dirty="0"/>
          </a:p>
        </p:txBody>
      </p:sp>
      <p:sp>
        <p:nvSpPr>
          <p:cNvPr id="28" name="Text 26"/>
          <p:cNvSpPr/>
          <p:nvPr/>
        </p:nvSpPr>
        <p:spPr>
          <a:xfrm>
            <a:off x="7479791" y="4892040"/>
            <a:ext cx="4160519" cy="98755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fr-FR" sz="2800" b="1" noProof="0" dirty="0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Conclusion et perspectives</a:t>
            </a:r>
            <a:endParaRPr lang="fr-FR" sz="2800" noProof="0" dirty="0">
              <a:solidFill>
                <a:schemeClr val="tx1">
                  <a:lumMod val="76000"/>
                  <a:lumOff val="24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479792" y="5349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fr-FR" sz="1400" b="1" noProof="0" dirty="0"/>
          </a:p>
        </p:txBody>
      </p:sp>
      <p:sp>
        <p:nvSpPr>
          <p:cNvPr id="31" name="Text 29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fr-FR" sz="2000" b="1" noProof="0" dirty="0">
                <a:latin typeface="Calibri"/>
                <a:ea typeface="Calibri"/>
                <a:cs typeface="Calibri"/>
              </a:rPr>
              <a:t>2 / 37</a:t>
            </a:r>
            <a:endParaRPr lang="fr-FR" noProof="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676BD4B-20C9-23DC-27F6-6B4DE6A43BFA}"/>
              </a:ext>
            </a:extLst>
          </p:cNvPr>
          <p:cNvSpPr txBox="1"/>
          <p:nvPr/>
        </p:nvSpPr>
        <p:spPr>
          <a:xfrm>
            <a:off x="1284008" y="5135329"/>
            <a:ext cx="4784632" cy="95410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ctr"/>
            <a:r>
              <a:rPr lang="fr-FR" sz="2800" b="1" noProof="0" dirty="0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Présentation de la contribution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9E2E9F-A1FC-A8F3-13F9-DBEC78A53265}"/>
              </a:ext>
            </a:extLst>
          </p:cNvPr>
          <p:cNvSpPr txBox="1"/>
          <p:nvPr/>
        </p:nvSpPr>
        <p:spPr>
          <a:xfrm>
            <a:off x="6981371" y="2064657"/>
            <a:ext cx="5225143" cy="95410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fr-FR" sz="2800" b="1" i="0" u="none" strike="noStrike" baseline="0" noProof="0" dirty="0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Simulation et démonstration </a:t>
            </a:r>
            <a:r>
              <a:rPr lang="fr-FR" sz="2800" b="1" i="0" noProof="0" dirty="0">
                <a:solidFill>
                  <a:schemeClr val="tx1">
                    <a:lumMod val="76000"/>
                    <a:lumOff val="24000"/>
                  </a:schemeClr>
                </a:solidFill>
                <a:latin typeface="Calibri"/>
                <a:ea typeface="Calibri"/>
                <a:cs typeface="Calibri"/>
              </a:rPr>
              <a:t>​</a:t>
            </a:r>
          </a:p>
          <a:p>
            <a:pPr algn="l" rtl="0"/>
            <a:endParaRPr lang="fr-FR" sz="2800" b="1" i="0" noProof="0" dirty="0">
              <a:solidFill>
                <a:schemeClr val="tx1">
                  <a:lumMod val="76000"/>
                  <a:lumOff val="24000"/>
                </a:schemeClr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000"/>
                            </p:stCondLst>
                            <p:childTnLst>
                              <p:par>
                                <p:cTn id="10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3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6000"/>
                            </p:stCondLst>
                            <p:childTnLst>
                              <p:par>
                                <p:cTn id="18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0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8" fill="hold">
                            <p:stCondLst>
                              <p:cond delay="8000"/>
                            </p:stCondLst>
                            <p:childTnLst>
                              <p:par>
                                <p:cTn id="249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6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7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7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7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8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9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0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1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1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3" fill="hold">
                            <p:stCondLst>
                              <p:cond delay="10000"/>
                            </p:stCondLst>
                            <p:childTnLst>
                              <p:par>
                                <p:cTn id="31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2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2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30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3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4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4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5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6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7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0" grpId="0" animBg="1"/>
      <p:bldP spid="11" grpId="0" animBg="1"/>
      <p:bldP spid="12" grpId="0" animBg="1"/>
      <p:bldP spid="14" grpId="0" animBg="1"/>
      <p:bldP spid="15" grpId="0" animBg="1"/>
      <p:bldP spid="16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72610" y="432771"/>
            <a:ext cx="5375254" cy="5071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Présentation des UAV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fr-FR" sz="36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5" name="Text 53"/>
          <p:cNvSpPr/>
          <p:nvPr/>
        </p:nvSpPr>
        <p:spPr>
          <a:xfrm>
            <a:off x="11002975" y="6473952"/>
            <a:ext cx="82296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r"/>
            <a:r>
              <a:rPr lang="fr-FR" sz="2000" b="1" noProof="0" dirty="0">
                <a:latin typeface="Calibri"/>
                <a:ea typeface="Calibri"/>
                <a:cs typeface="Calibri"/>
              </a:rPr>
              <a:t>3 / 37</a:t>
            </a:r>
            <a:endParaRPr lang="fr-FR" sz="2000" b="1" noProof="0" dirty="0"/>
          </a:p>
          <a:p>
            <a:pPr marL="0" indent="0" algn="r">
              <a:buNone/>
            </a:pPr>
            <a:endParaRPr lang="fr-FR" sz="2000" noProof="0" dirty="0"/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AFF4B278-E312-A380-DA51-031D8E620DCB}"/>
              </a:ext>
            </a:extLst>
          </p:cNvPr>
          <p:cNvSpPr txBox="1"/>
          <p:nvPr/>
        </p:nvSpPr>
        <p:spPr>
          <a:xfrm>
            <a:off x="201533" y="1312516"/>
            <a:ext cx="8824902" cy="58982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24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 UAV ou drone, est un aéronef sans pilote embarqué capable d’effectuer des missions de manière autonome ou pilotée à distance grâce à des capteurs, des systèmes de communication et des algorithmes de contrôle.</a:t>
            </a:r>
            <a:endParaRPr lang="fr-FR" sz="2400" noProof="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24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/>
                <a:ea typeface="Calibri"/>
                <a:cs typeface="Calibri"/>
              </a:rPr>
              <a:t>Les drones sont aujourd'hui utilisés dans plusieurs domaines tels que le domaine militaire, la surveillance, la cartographie, la sécurité et les opérations de secours.</a:t>
            </a:r>
          </a:p>
          <a:p>
            <a:pPr>
              <a:lnSpc>
                <a:spcPct val="200000"/>
              </a:lnSpc>
            </a:pPr>
            <a:endParaRPr lang="fr-FR" sz="2400" cap="all" noProof="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46AB8D-99E9-CD74-C724-24D33EA259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3485" y="2417853"/>
            <a:ext cx="4652256" cy="330245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0"/>
                                        <p:tgtEl>
                                          <p:spTgt spid="7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63771" y="351795"/>
            <a:ext cx="6368370" cy="8976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Mono-UAV vs Multi-UAV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700709" y="1308586"/>
            <a:ext cx="5349240" cy="3007812"/>
          </a:xfrm>
          <a:prstGeom prst="roundRect">
            <a:avLst>
              <a:gd name="adj" fmla="val 1778"/>
            </a:avLst>
          </a:prstGeom>
          <a:solidFill>
            <a:schemeClr val="accent1">
              <a:lumMod val="20000"/>
              <a:lumOff val="80000"/>
            </a:schemeClr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1426961"/>
            <a:ext cx="5349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Mono-UAV</a:t>
            </a:r>
            <a:endParaRPr lang="fr-FR" sz="2400" noProof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899160" y="1884160"/>
            <a:ext cx="4709160" cy="20219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drone</a:t>
            </a:r>
          </a:p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à mettre en œuvre et gérer</a:t>
            </a:r>
            <a:endParaRPr lang="fr-FR" sz="20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Scalabilité</a:t>
            </a: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limitée</a:t>
            </a:r>
          </a:p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autonome</a:t>
            </a:r>
            <a:endParaRPr lang="fr-FR" sz="20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263640" y="1308585"/>
            <a:ext cx="5349240" cy="3007813"/>
          </a:xfrm>
          <a:prstGeom prst="roundRect">
            <a:avLst>
              <a:gd name="adj" fmla="val 1778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>
              <a:solidFill>
                <a:schemeClr val="bg2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63640" y="1426961"/>
            <a:ext cx="5349240" cy="5409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Multi-UAV</a:t>
            </a:r>
            <a:endParaRPr lang="fr-FR" sz="2400" noProof="0" dirty="0">
              <a:solidFill>
                <a:schemeClr val="accent2"/>
              </a:solidFill>
            </a:endParaRPr>
          </a:p>
        </p:txBody>
      </p:sp>
      <p:sp>
        <p:nvSpPr>
          <p:cNvPr id="46" name="Text 44"/>
          <p:cNvSpPr/>
          <p:nvPr/>
        </p:nvSpPr>
        <p:spPr>
          <a:xfrm>
            <a:off x="6583680" y="1967948"/>
            <a:ext cx="4709160" cy="2137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drones coordonnés</a:t>
            </a:r>
            <a:endParaRPr lang="fr-FR" sz="20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spatiale élargie</a:t>
            </a:r>
            <a:endParaRPr lang="fr-FR" sz="20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Robustesse et tolérance aux pannes</a:t>
            </a:r>
            <a:endParaRPr lang="fr-FR" sz="20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Parallélisme des tâches</a:t>
            </a:r>
            <a:endParaRPr lang="fr-FR" sz="20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Flexibilité et adaptabilité dynamique</a:t>
            </a:r>
            <a:endParaRPr lang="fr-FR" sz="20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2DA4C011-7B60-503E-A29E-1EF33CCF69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053" y="4434774"/>
            <a:ext cx="3687418" cy="2286992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BC851941-E59D-3B8A-F849-9DCC10A272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4381" y="4434774"/>
            <a:ext cx="3818594" cy="2286992"/>
          </a:xfrm>
          <a:prstGeom prst="rect">
            <a:avLst/>
          </a:prstGeom>
        </p:spPr>
      </p:pic>
      <p:sp>
        <p:nvSpPr>
          <p:cNvPr id="56" name="TextBox 55">
            <a:extLst>
              <a:ext uri="{FF2B5EF4-FFF2-40B4-BE49-F238E27FC236}">
                <a16:creationId xmlns:a16="http://schemas.microsoft.com/office/drawing/2014/main" id="{CB489E91-017E-19CD-D678-B022457B2482}"/>
              </a:ext>
            </a:extLst>
          </p:cNvPr>
          <p:cNvSpPr txBox="1"/>
          <p:nvPr/>
        </p:nvSpPr>
        <p:spPr>
          <a:xfrm>
            <a:off x="6042134" y="6402818"/>
            <a:ext cx="610308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sz="2000" b="1" noProof="0" dirty="0">
                <a:latin typeface="Calibri"/>
                <a:ea typeface="Calibri"/>
                <a:cs typeface="Calibri"/>
              </a:rPr>
              <a:t>4 / 37</a:t>
            </a:r>
            <a:endParaRPr lang="fr-FR" sz="2000" b="1" noProof="0" dirty="0"/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308008"/>
            <a:ext cx="8403336" cy="6545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d'un système UAV (UAS)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936297"/>
            <a:ext cx="11064240" cy="7931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i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Un UAS intègre l'ensemble des composants matériels, logiciels et humains nécessaires à la mission</a:t>
            </a:r>
            <a:endParaRPr lang="fr-FR" sz="2400" b="1" noProof="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2148840"/>
            <a:ext cx="2606040" cy="109728"/>
          </a:xfrm>
          <a:prstGeom prst="rect">
            <a:avLst/>
          </a:prstGeom>
          <a:solidFill>
            <a:srgbClr val="0EA5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2423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aérien</a:t>
            </a:r>
            <a:endParaRPr lang="fr-FR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731520" y="31089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Drones, calculateur de vol, capteurs, actionneurs</a:t>
            </a:r>
            <a:endParaRPr lang="fr-FR" sz="2000" b="1" noProof="0" dirty="0"/>
          </a:p>
        </p:txBody>
      </p:sp>
      <p:sp>
        <p:nvSpPr>
          <p:cNvPr id="11" name="Shape 9"/>
          <p:cNvSpPr/>
          <p:nvPr/>
        </p:nvSpPr>
        <p:spPr>
          <a:xfrm>
            <a:off x="3401568" y="21488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0"/>
          <p:cNvSpPr/>
          <p:nvPr/>
        </p:nvSpPr>
        <p:spPr>
          <a:xfrm>
            <a:off x="3401568" y="2148840"/>
            <a:ext cx="2606040" cy="109728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3584448" y="2423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sol (GCS)</a:t>
            </a:r>
            <a:endParaRPr lang="fr-FR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3584448" y="3108960"/>
            <a:ext cx="2339274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Planification, supervision, réception des données</a:t>
            </a:r>
            <a:endParaRPr lang="fr-FR" sz="2000" b="1" noProof="0" dirty="0"/>
          </a:p>
        </p:txBody>
      </p:sp>
      <p:sp>
        <p:nvSpPr>
          <p:cNvPr id="15" name="Shape 13"/>
          <p:cNvSpPr/>
          <p:nvPr/>
        </p:nvSpPr>
        <p:spPr>
          <a:xfrm>
            <a:off x="6254496" y="21488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4"/>
          <p:cNvSpPr/>
          <p:nvPr/>
        </p:nvSpPr>
        <p:spPr>
          <a:xfrm>
            <a:off x="6254496" y="2148840"/>
            <a:ext cx="2606040" cy="109728"/>
          </a:xfrm>
          <a:prstGeom prst="rect">
            <a:avLst/>
          </a:prstGeom>
          <a:solidFill>
            <a:srgbClr val="6B8AA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6437376" y="2423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de communication</a:t>
            </a:r>
            <a:endParaRPr lang="fr-FR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6437376" y="31089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Wi-Fi, LTE/5G, RF, liaisons satellite</a:t>
            </a:r>
            <a:endParaRPr lang="fr-FR" sz="2000" b="1" noProof="0" dirty="0"/>
          </a:p>
        </p:txBody>
      </p:sp>
      <p:sp>
        <p:nvSpPr>
          <p:cNvPr id="19" name="Shape 17"/>
          <p:cNvSpPr/>
          <p:nvPr/>
        </p:nvSpPr>
        <p:spPr>
          <a:xfrm>
            <a:off x="9107424" y="2148840"/>
            <a:ext cx="2606040" cy="3291840"/>
          </a:xfrm>
          <a:prstGeom prst="roundRect">
            <a:avLst>
              <a:gd name="adj" fmla="val 2807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8"/>
          <p:cNvSpPr/>
          <p:nvPr/>
        </p:nvSpPr>
        <p:spPr>
          <a:xfrm>
            <a:off x="9107424" y="2148840"/>
            <a:ext cx="2606040" cy="109728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9290304" y="24231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&amp; décision</a:t>
            </a:r>
            <a:endParaRPr lang="fr-FR" sz="2400" noProof="0" dirty="0"/>
          </a:p>
        </p:txBody>
      </p:sp>
      <p:sp>
        <p:nvSpPr>
          <p:cNvPr id="22" name="Text 20"/>
          <p:cNvSpPr/>
          <p:nvPr/>
        </p:nvSpPr>
        <p:spPr>
          <a:xfrm>
            <a:off x="9290304" y="31089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Allocation des tâches, trajectoires, anti-collusion</a:t>
            </a:r>
            <a:endParaRPr lang="fr-FR" sz="2000" b="1" noProof="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29EDC42-61E8-846D-8E16-63D7C02DDB0C}"/>
              </a:ext>
            </a:extLst>
          </p:cNvPr>
          <p:cNvSpPr txBox="1"/>
          <p:nvPr/>
        </p:nvSpPr>
        <p:spPr>
          <a:xfrm>
            <a:off x="5923722" y="6349937"/>
            <a:ext cx="610308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sz="2000" b="1" noProof="0" dirty="0">
                <a:latin typeface="Calibri"/>
                <a:ea typeface="Calibri"/>
                <a:cs typeface="Calibri"/>
              </a:rPr>
              <a:t>5 / 37</a:t>
            </a:r>
            <a:endParaRPr lang="fr-FR" sz="2000" b="1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68308" y="379931"/>
            <a:ext cx="7614988" cy="514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Défis dans les systèmes Multi-UAV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3566160" cy="160020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566160" cy="91440"/>
          </a:xfrm>
          <a:prstGeom prst="rect">
            <a:avLst/>
          </a:prstGeom>
          <a:solidFill>
            <a:srgbClr val="0EA5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542544" y="1920239"/>
            <a:ext cx="3389376" cy="6599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énergétiques</a:t>
            </a:r>
            <a:endParaRPr lang="fr-FR" sz="2400" noProof="0" dirty="0"/>
          </a:p>
        </p:txBody>
      </p:sp>
      <p:sp>
        <p:nvSpPr>
          <p:cNvPr id="9" name="Text 7"/>
          <p:cNvSpPr/>
          <p:nvPr/>
        </p:nvSpPr>
        <p:spPr>
          <a:xfrm>
            <a:off x="731520" y="2468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Autonomie limitée </a:t>
            </a:r>
            <a:endParaRPr lang="fr-FR" sz="2000" b="1" noProof="0" dirty="0"/>
          </a:p>
        </p:txBody>
      </p:sp>
      <p:sp>
        <p:nvSpPr>
          <p:cNvPr id="10" name="Shape 8"/>
          <p:cNvSpPr/>
          <p:nvPr/>
        </p:nvSpPr>
        <p:spPr>
          <a:xfrm>
            <a:off x="4315968" y="169164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4315968" y="1691640"/>
            <a:ext cx="3566160" cy="9144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4728754" y="1920240"/>
            <a:ext cx="297049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Contraintes de communication</a:t>
            </a:r>
            <a:endParaRPr lang="fr-FR" sz="2400" noProof="0" dirty="0"/>
          </a:p>
        </p:txBody>
      </p:sp>
      <p:sp>
        <p:nvSpPr>
          <p:cNvPr id="13" name="Text 11"/>
          <p:cNvSpPr/>
          <p:nvPr/>
        </p:nvSpPr>
        <p:spPr>
          <a:xfrm>
            <a:off x="4498848" y="2468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Portée limitée, interférences, latence</a:t>
            </a:r>
            <a:endParaRPr lang="fr-FR" b="1" noProof="0" dirty="0"/>
          </a:p>
        </p:txBody>
      </p:sp>
      <p:sp>
        <p:nvSpPr>
          <p:cNvPr id="14" name="Shape 12"/>
          <p:cNvSpPr/>
          <p:nvPr/>
        </p:nvSpPr>
        <p:spPr>
          <a:xfrm>
            <a:off x="8083296" y="169164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8083296" y="1691640"/>
            <a:ext cx="3566160" cy="91440"/>
          </a:xfrm>
          <a:prstGeom prst="rect">
            <a:avLst/>
          </a:prstGeom>
          <a:solidFill>
            <a:srgbClr val="6B8AA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8266176" y="19202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 à l'échelle</a:t>
            </a:r>
            <a:endParaRPr lang="fr-FR" sz="2400" noProof="0" dirty="0"/>
          </a:p>
        </p:txBody>
      </p:sp>
      <p:sp>
        <p:nvSpPr>
          <p:cNvPr id="17" name="Text 15"/>
          <p:cNvSpPr/>
          <p:nvPr/>
        </p:nvSpPr>
        <p:spPr>
          <a:xfrm>
            <a:off x="8266176" y="24688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Complexité croissante avec le nombre de drones</a:t>
            </a:r>
            <a:endParaRPr lang="fr-FR" b="1" noProof="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7"/>
          <p:cNvSpPr/>
          <p:nvPr/>
        </p:nvSpPr>
        <p:spPr>
          <a:xfrm>
            <a:off x="548640" y="3429000"/>
            <a:ext cx="3566160" cy="9144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731520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Tolérance aux pannes</a:t>
            </a:r>
            <a:endParaRPr lang="fr-FR" sz="2400" noProof="0" dirty="0"/>
          </a:p>
        </p:txBody>
      </p:sp>
      <p:sp>
        <p:nvSpPr>
          <p:cNvPr id="21" name="Text 19"/>
          <p:cNvSpPr/>
          <p:nvPr/>
        </p:nvSpPr>
        <p:spPr>
          <a:xfrm>
            <a:off x="731520" y="4206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Défaillance d'un drone impacte la mission</a:t>
            </a:r>
            <a:endParaRPr lang="fr-FR" b="1" noProof="0" dirty="0"/>
          </a:p>
        </p:txBody>
      </p:sp>
      <p:sp>
        <p:nvSpPr>
          <p:cNvPr id="22" name="Shape 20"/>
          <p:cNvSpPr/>
          <p:nvPr/>
        </p:nvSpPr>
        <p:spPr>
          <a:xfrm>
            <a:off x="4315968" y="34290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1"/>
          <p:cNvSpPr/>
          <p:nvPr/>
        </p:nvSpPr>
        <p:spPr>
          <a:xfrm>
            <a:off x="4315968" y="3429000"/>
            <a:ext cx="3566160" cy="9144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4498848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Hétérogénéité des drones</a:t>
            </a:r>
            <a:endParaRPr lang="fr-FR" sz="2400" noProof="0" dirty="0"/>
          </a:p>
        </p:txBody>
      </p:sp>
      <p:sp>
        <p:nvSpPr>
          <p:cNvPr id="25" name="Text 23"/>
          <p:cNvSpPr/>
          <p:nvPr/>
        </p:nvSpPr>
        <p:spPr>
          <a:xfrm>
            <a:off x="4498848" y="4206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Capacités variables (capteurs, vitesse)</a:t>
            </a:r>
            <a:endParaRPr lang="fr-FR" b="1" noProof="0" dirty="0"/>
          </a:p>
        </p:txBody>
      </p:sp>
      <p:sp>
        <p:nvSpPr>
          <p:cNvPr id="26" name="Shape 24"/>
          <p:cNvSpPr/>
          <p:nvPr/>
        </p:nvSpPr>
        <p:spPr>
          <a:xfrm>
            <a:off x="8083296" y="3429000"/>
            <a:ext cx="3566160" cy="1508760"/>
          </a:xfrm>
          <a:prstGeom prst="roundRect">
            <a:avLst>
              <a:gd name="adj" fmla="val 4848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25"/>
          <p:cNvSpPr/>
          <p:nvPr/>
        </p:nvSpPr>
        <p:spPr>
          <a:xfrm>
            <a:off x="8083296" y="3429000"/>
            <a:ext cx="3566160" cy="91440"/>
          </a:xfrm>
          <a:prstGeom prst="rect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6"/>
          <p:cNvSpPr/>
          <p:nvPr/>
        </p:nvSpPr>
        <p:spPr>
          <a:xfrm>
            <a:off x="8266176" y="36576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&amp; collisions</a:t>
            </a:r>
            <a:endParaRPr lang="fr-FR" sz="2400" noProof="0" dirty="0"/>
          </a:p>
        </p:txBody>
      </p:sp>
      <p:sp>
        <p:nvSpPr>
          <p:cNvPr id="29" name="Text 27"/>
          <p:cNvSpPr/>
          <p:nvPr/>
        </p:nvSpPr>
        <p:spPr>
          <a:xfrm>
            <a:off x="8266176" y="4206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Évitement, chiffrement, intégrité des données</a:t>
            </a:r>
            <a:endParaRPr lang="fr-FR" b="1" noProof="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BF72B4F-8009-F371-0B0A-54DD25B3484D}"/>
              </a:ext>
            </a:extLst>
          </p:cNvPr>
          <p:cNvSpPr txBox="1"/>
          <p:nvPr/>
        </p:nvSpPr>
        <p:spPr>
          <a:xfrm>
            <a:off x="5996762" y="6420676"/>
            <a:ext cx="610308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sz="2000" b="1" noProof="0" dirty="0">
                <a:latin typeface="Calibri"/>
                <a:ea typeface="Calibri"/>
                <a:cs typeface="Calibri"/>
              </a:rPr>
              <a:t>6 / 37</a:t>
            </a:r>
            <a:endParaRPr lang="fr-FR" sz="2000" b="1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29768"/>
            <a:ext cx="11094415" cy="667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Problématique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1064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/>
            <a:r>
              <a:rPr lang="fr-FR" sz="2400" b="1" i="1" noProof="0" dirty="0">
                <a:latin typeface="Calibri" panose="020F0502020204030204" pitchFamily="34" charset="0"/>
                <a:cs typeface="Calibri" panose="020F0502020204030204" pitchFamily="34" charset="0"/>
              </a:rPr>
              <a:t>Comment optimiser conjointement le déploiement, la visite des cibles et la maintenance énergétique d'un système multi-UAV, tout en garantissant une répartition équilibrée de la charge et une prise en compte des priorités des cibles ?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1988820" y="2880360"/>
            <a:ext cx="640080" cy="640080"/>
          </a:xfrm>
          <a:prstGeom prst="ellipse">
            <a:avLst/>
          </a:prstGeom>
          <a:solidFill>
            <a:srgbClr val="0EA5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198882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fr-FR" sz="2200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Nombre optimal de drones</a:t>
            </a:r>
            <a:endParaRPr lang="fr-FR" sz="2400" noProof="0" dirty="0"/>
          </a:p>
        </p:txBody>
      </p:sp>
      <p:sp>
        <p:nvSpPr>
          <p:cNvPr id="11" name="Text 9"/>
          <p:cNvSpPr/>
          <p:nvPr/>
        </p:nvSpPr>
        <p:spPr>
          <a:xfrm>
            <a:off x="822960" y="42519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fr-FR" sz="2000" b="1" noProof="0" dirty="0">
              <a:solidFill>
                <a:srgbClr val="5B6B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fr-FR" sz="2000" b="1" noProof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Déterminer le nombre optimal de drones et leurs positions</a:t>
            </a:r>
            <a:endParaRPr lang="fr-FR" sz="2000" b="1" noProof="0" dirty="0"/>
          </a:p>
          <a:p>
            <a:pPr marL="0" indent="0" algn="ctr">
              <a:buNone/>
            </a:pPr>
            <a:endParaRPr lang="fr-FR" sz="2000" b="1" noProof="0" dirty="0"/>
          </a:p>
        </p:txBody>
      </p:sp>
      <p:sp>
        <p:nvSpPr>
          <p:cNvPr id="12" name="Shape 10"/>
          <p:cNvSpPr/>
          <p:nvPr/>
        </p:nvSpPr>
        <p:spPr>
          <a:xfrm>
            <a:off x="4343400" y="260604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5783580" y="2880360"/>
            <a:ext cx="640080" cy="64008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578358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fr-FR" sz="2200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Équilibrage de la charge</a:t>
            </a:r>
            <a:endParaRPr lang="fr-FR" sz="2400" noProof="0" dirty="0"/>
          </a:p>
        </p:txBody>
      </p:sp>
      <p:sp>
        <p:nvSpPr>
          <p:cNvPr id="16" name="Text 14"/>
          <p:cNvSpPr/>
          <p:nvPr/>
        </p:nvSpPr>
        <p:spPr>
          <a:xfrm>
            <a:off x="4617720" y="42519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fr-FR" sz="2000" b="1" noProof="0" dirty="0">
              <a:solidFill>
                <a:srgbClr val="5B6B7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fr-FR" sz="2000" b="1" noProof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Équilibrer la charge de couverture entre les drones</a:t>
            </a:r>
            <a:endParaRPr lang="fr-FR" sz="2000" b="1" noProof="0" dirty="0"/>
          </a:p>
          <a:p>
            <a:pPr marL="0" indent="0" algn="ctr">
              <a:buNone/>
            </a:pPr>
            <a:endParaRPr lang="fr-FR" sz="2000" b="1" noProof="0" dirty="0"/>
          </a:p>
        </p:txBody>
      </p:sp>
      <p:sp>
        <p:nvSpPr>
          <p:cNvPr id="17" name="Shape 15"/>
          <p:cNvSpPr/>
          <p:nvPr/>
        </p:nvSpPr>
        <p:spPr>
          <a:xfrm>
            <a:off x="8138160" y="2606040"/>
            <a:ext cx="3520440" cy="3063240"/>
          </a:xfrm>
          <a:prstGeom prst="roundRect">
            <a:avLst>
              <a:gd name="adj" fmla="val 2388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6"/>
          <p:cNvSpPr/>
          <p:nvPr/>
        </p:nvSpPr>
        <p:spPr>
          <a:xfrm>
            <a:off x="9578340" y="2880360"/>
            <a:ext cx="640080" cy="640080"/>
          </a:xfrm>
          <a:prstGeom prst="ellipse">
            <a:avLst/>
          </a:prstGeom>
          <a:solidFill>
            <a:srgbClr val="6B8AA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9578340" y="2880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fr-FR" sz="2200" noProof="0" dirty="0"/>
          </a:p>
        </p:txBody>
      </p:sp>
      <p:sp>
        <p:nvSpPr>
          <p:cNvPr id="20" name="Text 18"/>
          <p:cNvSpPr/>
          <p:nvPr/>
        </p:nvSpPr>
        <p:spPr>
          <a:xfrm>
            <a:off x="8366760" y="3657600"/>
            <a:ext cx="3063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Priorités sous énergie</a:t>
            </a:r>
            <a:endParaRPr lang="fr-FR" sz="2400" noProof="0" dirty="0"/>
          </a:p>
        </p:txBody>
      </p:sp>
      <p:sp>
        <p:nvSpPr>
          <p:cNvPr id="21" name="Text 19"/>
          <p:cNvSpPr/>
          <p:nvPr/>
        </p:nvSpPr>
        <p:spPr>
          <a:xfrm>
            <a:off x="8412480" y="4251960"/>
            <a:ext cx="2971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2000" b="1" noProof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les priorités des cibles sous contrainte énergétique</a:t>
            </a:r>
            <a:endParaRPr lang="fr-FR" sz="2000" b="1" noProof="0" dirty="0"/>
          </a:p>
          <a:p>
            <a:pPr marL="0" indent="0" algn="ctr">
              <a:buNone/>
            </a:pPr>
            <a:endParaRPr lang="fr-FR" sz="2000" b="1" noProof="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928B880-FE7C-5F52-F511-A30C9712DE6B}"/>
              </a:ext>
            </a:extLst>
          </p:cNvPr>
          <p:cNvSpPr txBox="1"/>
          <p:nvPr/>
        </p:nvSpPr>
        <p:spPr>
          <a:xfrm>
            <a:off x="5964865" y="6363204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sz="1800" b="1" noProof="0" dirty="0">
                <a:latin typeface="Calibri"/>
                <a:ea typeface="Calibri"/>
                <a:cs typeface="Calibri"/>
              </a:rPr>
              <a:t>7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0">
            <a:extLst>
              <a:ext uri="{FF2B5EF4-FFF2-40B4-BE49-F238E27FC236}">
                <a16:creationId xmlns:a16="http://schemas.microsoft.com/office/drawing/2014/main" id="{17574D8C-8145-D959-568A-84560752741B}"/>
              </a:ext>
            </a:extLst>
          </p:cNvPr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fr-FR" sz="1200" noProof="0" dirty="0"/>
          </a:p>
        </p:txBody>
      </p:sp>
      <p:sp>
        <p:nvSpPr>
          <p:cNvPr id="13" name="Text 1">
            <a:extLst>
              <a:ext uri="{FF2B5EF4-FFF2-40B4-BE49-F238E27FC236}">
                <a16:creationId xmlns:a16="http://schemas.microsoft.com/office/drawing/2014/main" id="{89590D1F-F78F-4EEF-C359-0E73ACB7F953}"/>
              </a:ext>
            </a:extLst>
          </p:cNvPr>
          <p:cNvSpPr/>
          <p:nvPr/>
        </p:nvSpPr>
        <p:spPr>
          <a:xfrm>
            <a:off x="548640" y="242574"/>
            <a:ext cx="10607040" cy="701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128603BD-FA0B-B06D-2768-23E85F59DC4E}"/>
              </a:ext>
            </a:extLst>
          </p:cNvPr>
          <p:cNvSpPr/>
          <p:nvPr/>
        </p:nvSpPr>
        <p:spPr>
          <a:xfrm>
            <a:off x="11365992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fr-FR" sz="1000" noProof="0" dirty="0"/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F3B0949B-E8DC-EFDD-6FE2-CAA8C469FD85}"/>
              </a:ext>
            </a:extLst>
          </p:cNvPr>
          <p:cNvSpPr/>
          <p:nvPr/>
        </p:nvSpPr>
        <p:spPr>
          <a:xfrm>
            <a:off x="548640" y="6400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fr-FR" sz="950" noProof="0" dirty="0"/>
          </a:p>
        </p:txBody>
      </p:sp>
      <p:sp>
        <p:nvSpPr>
          <p:cNvPr id="16" name="Shape 4">
            <a:extLst>
              <a:ext uri="{FF2B5EF4-FFF2-40B4-BE49-F238E27FC236}">
                <a16:creationId xmlns:a16="http://schemas.microsoft.com/office/drawing/2014/main" id="{FA4253C3-8BFE-6A7A-2603-1B98286FD8D0}"/>
              </a:ext>
            </a:extLst>
          </p:cNvPr>
          <p:cNvSpPr/>
          <p:nvPr/>
        </p:nvSpPr>
        <p:spPr>
          <a:xfrm>
            <a:off x="1249136" y="1420509"/>
            <a:ext cx="457200" cy="457200"/>
          </a:xfrm>
          <a:prstGeom prst="ellipse">
            <a:avLst/>
          </a:prstGeom>
          <a:solidFill>
            <a:srgbClr val="0B1E33"/>
          </a:solidFill>
          <a:ln/>
        </p:spPr>
        <p:txBody>
          <a:bodyPr/>
          <a:lstStyle/>
          <a:p>
            <a:pPr algn="ctr"/>
            <a:r>
              <a:rPr lang="fr-FR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noProof="0" dirty="0"/>
          </a:p>
        </p:txBody>
      </p:sp>
      <p:sp>
        <p:nvSpPr>
          <p:cNvPr id="18" name="Text 6">
            <a:extLst>
              <a:ext uri="{FF2B5EF4-FFF2-40B4-BE49-F238E27FC236}">
                <a16:creationId xmlns:a16="http://schemas.microsoft.com/office/drawing/2014/main" id="{E5527625-F724-5818-3905-D7CD3377E4F4}"/>
              </a:ext>
            </a:extLst>
          </p:cNvPr>
          <p:cNvSpPr/>
          <p:nvPr/>
        </p:nvSpPr>
        <p:spPr>
          <a:xfrm>
            <a:off x="1249136" y="1061684"/>
            <a:ext cx="10058400" cy="66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fr-FR" sz="1550" b="1" noProof="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CF471F61-75F3-7583-BFC1-33783474EA61}"/>
              </a:ext>
            </a:extLst>
          </p:cNvPr>
          <p:cNvSpPr/>
          <p:nvPr/>
        </p:nvSpPr>
        <p:spPr>
          <a:xfrm>
            <a:off x="1249136" y="2140539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algn="ctr"/>
            <a:r>
              <a:rPr lang="fr-FR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noProof="0" dirty="0"/>
          </a:p>
        </p:txBody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B6773946-A79D-A84D-0DA0-A316AA4069FE}"/>
              </a:ext>
            </a:extLst>
          </p:cNvPr>
          <p:cNvSpPr/>
          <p:nvPr/>
        </p:nvSpPr>
        <p:spPr>
          <a:xfrm>
            <a:off x="1338943" y="1902605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fr-FR" sz="1550" b="1" noProof="0" dirty="0"/>
          </a:p>
        </p:txBody>
      </p:sp>
      <p:sp>
        <p:nvSpPr>
          <p:cNvPr id="22" name="Shape 10">
            <a:extLst>
              <a:ext uri="{FF2B5EF4-FFF2-40B4-BE49-F238E27FC236}">
                <a16:creationId xmlns:a16="http://schemas.microsoft.com/office/drawing/2014/main" id="{6A8F9269-C503-91A1-BF92-88A9B7B25055}"/>
              </a:ext>
            </a:extLst>
          </p:cNvPr>
          <p:cNvSpPr/>
          <p:nvPr/>
        </p:nvSpPr>
        <p:spPr>
          <a:xfrm>
            <a:off x="1249136" y="2927788"/>
            <a:ext cx="457200" cy="457200"/>
          </a:xfrm>
          <a:prstGeom prst="ellipse">
            <a:avLst/>
          </a:prstGeom>
          <a:solidFill>
            <a:srgbClr val="0B1E33"/>
          </a:solidFill>
          <a:ln/>
        </p:spPr>
        <p:txBody>
          <a:bodyPr/>
          <a:lstStyle/>
          <a:p>
            <a:pPr algn="ctr"/>
            <a:r>
              <a:rPr lang="fr-FR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noProof="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374EC3FD-5EB7-4C1A-D3F4-CA3FAE095C88}"/>
              </a:ext>
            </a:extLst>
          </p:cNvPr>
          <p:cNvSpPr/>
          <p:nvPr/>
        </p:nvSpPr>
        <p:spPr>
          <a:xfrm>
            <a:off x="1338943" y="260146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fr-FR" sz="1550" b="1" noProof="0" dirty="0"/>
          </a:p>
        </p:txBody>
      </p:sp>
      <p:sp>
        <p:nvSpPr>
          <p:cNvPr id="25" name="Shape 13">
            <a:extLst>
              <a:ext uri="{FF2B5EF4-FFF2-40B4-BE49-F238E27FC236}">
                <a16:creationId xmlns:a16="http://schemas.microsoft.com/office/drawing/2014/main" id="{44A54321-2559-9A40-7375-0632CB1864CA}"/>
              </a:ext>
            </a:extLst>
          </p:cNvPr>
          <p:cNvSpPr/>
          <p:nvPr/>
        </p:nvSpPr>
        <p:spPr>
          <a:xfrm>
            <a:off x="1249136" y="374904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algn="ctr"/>
            <a:r>
              <a:rPr lang="fr-FR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FR" noProof="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E43741F9-06F9-BC8B-C8D3-3E16847EEE57}"/>
              </a:ext>
            </a:extLst>
          </p:cNvPr>
          <p:cNvSpPr/>
          <p:nvPr/>
        </p:nvSpPr>
        <p:spPr>
          <a:xfrm>
            <a:off x="1338943" y="3461657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fr-FR" sz="1550" b="1" noProof="0" dirty="0"/>
          </a:p>
        </p:txBody>
      </p:sp>
      <p:sp>
        <p:nvSpPr>
          <p:cNvPr id="28" name="Shape 10">
            <a:extLst>
              <a:ext uri="{FF2B5EF4-FFF2-40B4-BE49-F238E27FC236}">
                <a16:creationId xmlns:a16="http://schemas.microsoft.com/office/drawing/2014/main" id="{B7F869D2-95D6-0173-B776-6CCA0724B2D5}"/>
              </a:ext>
            </a:extLst>
          </p:cNvPr>
          <p:cNvSpPr/>
          <p:nvPr/>
        </p:nvSpPr>
        <p:spPr>
          <a:xfrm>
            <a:off x="1249136" y="4602949"/>
            <a:ext cx="457200" cy="457200"/>
          </a:xfrm>
          <a:prstGeom prst="ellipse">
            <a:avLst/>
          </a:prstGeom>
          <a:solidFill>
            <a:srgbClr val="0B1E33"/>
          </a:solidFill>
          <a:ln/>
        </p:spPr>
        <p:txBody>
          <a:bodyPr/>
          <a:lstStyle/>
          <a:p>
            <a:pPr algn="ctr"/>
            <a:r>
              <a:rPr lang="fr-FR" b="1" noProof="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5</a:t>
            </a:r>
            <a:endParaRPr lang="fr-FR" noProof="0" dirty="0"/>
          </a:p>
        </p:txBody>
      </p:sp>
      <p:sp>
        <p:nvSpPr>
          <p:cNvPr id="29" name="Shape 13">
            <a:extLst>
              <a:ext uri="{FF2B5EF4-FFF2-40B4-BE49-F238E27FC236}">
                <a16:creationId xmlns:a16="http://schemas.microsoft.com/office/drawing/2014/main" id="{1E7AE5D4-0DC3-BEF6-8CD5-B43E47B27420}"/>
              </a:ext>
            </a:extLst>
          </p:cNvPr>
          <p:cNvSpPr/>
          <p:nvPr/>
        </p:nvSpPr>
        <p:spPr>
          <a:xfrm>
            <a:off x="1249136" y="5351270"/>
            <a:ext cx="457200" cy="457200"/>
          </a:xfrm>
          <a:prstGeom prst="ellipse">
            <a:avLst/>
          </a:prstGeom>
          <a:solidFill>
            <a:srgbClr val="0E7C86"/>
          </a:solidFill>
          <a:ln/>
        </p:spPr>
        <p:txBody>
          <a:bodyPr/>
          <a:lstStyle/>
          <a:p>
            <a:pPr algn="ctr"/>
            <a:r>
              <a:rPr lang="fr-FR" b="1" noProof="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6</a:t>
            </a:r>
            <a:endParaRPr lang="fr-FR" noProof="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CDA0A91-C168-B59B-2A9F-F58613186317}"/>
              </a:ext>
            </a:extLst>
          </p:cNvPr>
          <p:cNvSpPr txBox="1"/>
          <p:nvPr/>
        </p:nvSpPr>
        <p:spPr>
          <a:xfrm>
            <a:off x="2191512" y="5346805"/>
            <a:ext cx="84892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Évaluer l'impact énergétique des missions.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DF3C0A1-AD3F-D31C-C7DB-8225640DAF3C}"/>
              </a:ext>
            </a:extLst>
          </p:cNvPr>
          <p:cNvSpPr txBox="1"/>
          <p:nvPr/>
        </p:nvSpPr>
        <p:spPr>
          <a:xfrm>
            <a:off x="2191512" y="4567196"/>
            <a:ext cx="72482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Assurer une visite efficace des cibles.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46A89A4-AFD3-46CB-96C0-6FCB90AD7302}"/>
              </a:ext>
            </a:extLst>
          </p:cNvPr>
          <p:cNvSpPr txBox="1"/>
          <p:nvPr/>
        </p:nvSpPr>
        <p:spPr>
          <a:xfrm>
            <a:off x="2191512" y="3652401"/>
            <a:ext cx="74262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Équilibrer la charge entre les UAV.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4BA87E2-1379-8854-25B4-31383F1F595B}"/>
              </a:ext>
            </a:extLst>
          </p:cNvPr>
          <p:cNvSpPr txBox="1"/>
          <p:nvPr/>
        </p:nvSpPr>
        <p:spPr>
          <a:xfrm>
            <a:off x="2191512" y="2873204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Réduire les chevauchements inutiles.</a:t>
            </a:r>
            <a:endParaRPr lang="fr-FR" sz="2400" b="1" noProof="0" dirty="0">
              <a:solidFill>
                <a:srgbClr val="0B1F3A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C7C9B32-86F7-6A61-E87D-FF7F541FAE7E}"/>
              </a:ext>
            </a:extLst>
          </p:cNvPr>
          <p:cNvSpPr txBox="1"/>
          <p:nvPr/>
        </p:nvSpPr>
        <p:spPr>
          <a:xfrm>
            <a:off x="2191512" y="1420509"/>
            <a:ext cx="97231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SzPct val="100000"/>
            </a:pPr>
            <a:r>
              <a:rPr lang="fr-FR" sz="2400" b="1" noProof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Optimiser le déploiement des drones.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DFE1CA4-45A9-04AC-11B1-79709F3566DA}"/>
              </a:ext>
            </a:extLst>
          </p:cNvPr>
          <p:cNvSpPr txBox="1"/>
          <p:nvPr/>
        </p:nvSpPr>
        <p:spPr>
          <a:xfrm>
            <a:off x="2191512" y="2139587"/>
            <a:ext cx="10287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buSzPct val="100000"/>
            </a:pPr>
            <a:r>
              <a:rPr lang="fr-FR" sz="2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Maximiser le taux de couverture.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ADD44E2-3212-6A91-EF13-110504BED31E}"/>
              </a:ext>
            </a:extLst>
          </p:cNvPr>
          <p:cNvSpPr txBox="1"/>
          <p:nvPr/>
        </p:nvSpPr>
        <p:spPr>
          <a:xfrm>
            <a:off x="5784112" y="6351508"/>
            <a:ext cx="6241310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sz="1800" b="1" noProof="0" dirty="0">
                <a:latin typeface="Calibri"/>
                <a:ea typeface="Calibri"/>
                <a:cs typeface="Calibri"/>
              </a:rPr>
              <a:t>8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/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 1">
            <a:extLst>
              <a:ext uri="{FF2B5EF4-FFF2-40B4-BE49-F238E27FC236}">
                <a16:creationId xmlns:a16="http://schemas.microsoft.com/office/drawing/2014/main" id="{679DC75F-87FF-A9D6-4DF1-7EB0FB461947}"/>
              </a:ext>
            </a:extLst>
          </p:cNvPr>
          <p:cNvSpPr/>
          <p:nvPr/>
        </p:nvSpPr>
        <p:spPr>
          <a:xfrm>
            <a:off x="457200" y="180246"/>
            <a:ext cx="9205784" cy="5315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Couverture collaborative et déploiement 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FBE5C1F1-BB55-8B89-3848-98DECAA27C52}"/>
              </a:ext>
            </a:extLst>
          </p:cNvPr>
          <p:cNvSpPr/>
          <p:nvPr/>
        </p:nvSpPr>
        <p:spPr>
          <a:xfrm>
            <a:off x="777240" y="42976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fr-FR" sz="1300" noProof="0" dirty="0"/>
          </a:p>
        </p:txBody>
      </p:sp>
      <p:sp>
        <p:nvSpPr>
          <p:cNvPr id="43" name="Text 9">
            <a:extLst>
              <a:ext uri="{FF2B5EF4-FFF2-40B4-BE49-F238E27FC236}">
                <a16:creationId xmlns:a16="http://schemas.microsoft.com/office/drawing/2014/main" id="{C04C83B8-DDB5-7F47-4224-237CB81C9C3D}"/>
              </a:ext>
            </a:extLst>
          </p:cNvPr>
          <p:cNvSpPr/>
          <p:nvPr/>
        </p:nvSpPr>
        <p:spPr>
          <a:xfrm>
            <a:off x="4180841" y="6439800"/>
            <a:ext cx="5166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par rayon de détection R</a:t>
            </a:r>
            <a:endParaRPr lang="fr-FR" sz="2000" noProof="0" dirty="0"/>
          </a:p>
        </p:txBody>
      </p:sp>
      <p:sp>
        <p:nvSpPr>
          <p:cNvPr id="62" name="Shape 4">
            <a:extLst>
              <a:ext uri="{FF2B5EF4-FFF2-40B4-BE49-F238E27FC236}">
                <a16:creationId xmlns:a16="http://schemas.microsoft.com/office/drawing/2014/main" id="{5A84C6CA-6E52-0F48-90A5-605F93E57127}"/>
              </a:ext>
            </a:extLst>
          </p:cNvPr>
          <p:cNvSpPr/>
          <p:nvPr/>
        </p:nvSpPr>
        <p:spPr>
          <a:xfrm>
            <a:off x="205090" y="914397"/>
            <a:ext cx="11578856" cy="2403662"/>
          </a:xfrm>
          <a:prstGeom prst="roundRect">
            <a:avLst>
              <a:gd name="adj" fmla="val 8889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i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</a:t>
            </a:r>
            <a:r>
              <a:rPr lang="fr-FR" sz="2400" b="1" i="1" noProof="0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dépend du bon deploiement des drones.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i="1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est</a:t>
            </a:r>
            <a:r>
              <a:rPr lang="fr-FR" sz="2400" b="1" i="1" noProof="0" dirty="0">
                <a:solidFill>
                  <a:srgbClr val="0B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atteinte lorsque chaque point de la zone est surveillé par au moins un drone.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= capacité des drones à surveiller une zone/des cibles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</a:t>
            </a:r>
            <a:r>
              <a:rPr lang="fr-FR" sz="2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est  couvert si distance ≤ rayon de détection R d'un drone</a:t>
            </a:r>
          </a:p>
        </p:txBody>
      </p:sp>
      <p:pic>
        <p:nvPicPr>
          <p:cNvPr id="64" name="Image 63">
            <a:extLst>
              <a:ext uri="{FF2B5EF4-FFF2-40B4-BE49-F238E27FC236}">
                <a16:creationId xmlns:a16="http://schemas.microsoft.com/office/drawing/2014/main" id="{42F0DE83-336B-73E0-3FD1-6B47F35667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9853" y="3578535"/>
            <a:ext cx="4135118" cy="2976770"/>
          </a:xfrm>
          <a:prstGeom prst="rect">
            <a:avLst/>
          </a:prstGeom>
        </p:spPr>
      </p:pic>
      <p:sp>
        <p:nvSpPr>
          <p:cNvPr id="66" name="ZoneTexte 65">
            <a:extLst>
              <a:ext uri="{FF2B5EF4-FFF2-40B4-BE49-F238E27FC236}">
                <a16:creationId xmlns:a16="http://schemas.microsoft.com/office/drawing/2014/main" id="{A0972F11-3984-213A-2B39-2A7742DEE851}"/>
              </a:ext>
            </a:extLst>
          </p:cNvPr>
          <p:cNvSpPr txBox="1"/>
          <p:nvPr/>
        </p:nvSpPr>
        <p:spPr>
          <a:xfrm>
            <a:off x="5884027" y="4670614"/>
            <a:ext cx="2209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fr-FR" sz="1600" noProof="0" dirty="0"/>
          </a:p>
        </p:txBody>
      </p:sp>
      <p:sp>
        <p:nvSpPr>
          <p:cNvPr id="3" name="Text 9">
            <a:extLst>
              <a:ext uri="{FF2B5EF4-FFF2-40B4-BE49-F238E27FC236}">
                <a16:creationId xmlns:a16="http://schemas.microsoft.com/office/drawing/2014/main" id="{787525E8-B6BC-10D9-5F28-B60A8FB8199B}"/>
              </a:ext>
            </a:extLst>
          </p:cNvPr>
          <p:cNvSpPr/>
          <p:nvPr/>
        </p:nvSpPr>
        <p:spPr>
          <a:xfrm>
            <a:off x="8370627" y="3318059"/>
            <a:ext cx="3364020" cy="2794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400"/>
              </a:spcAft>
              <a:buSzPct val="100000"/>
            </a:pPr>
            <a:endParaRPr lang="fr-FR" b="1" noProof="0" dirty="0"/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72232085-6524-F617-E31E-C65A860F883F}"/>
              </a:ext>
            </a:extLst>
          </p:cNvPr>
          <p:cNvSpPr txBox="1"/>
          <p:nvPr/>
        </p:nvSpPr>
        <p:spPr>
          <a:xfrm>
            <a:off x="457200" y="3900643"/>
            <a:ext cx="4014026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fr-FR" sz="2400" b="1" noProof="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r>
              <a:rPr lang="fr-FR" sz="2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fr-FR" sz="2400" b="1" noProof="0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 couverture   </a:t>
            </a:r>
          </a:p>
          <a:p>
            <a:r>
              <a:rPr lang="fr-FR" sz="2000" b="1" noProof="0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</a:p>
          <a:p>
            <a:pPr marL="285750" indent="-285750"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fr-FR" sz="20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Couverture de cible</a:t>
            </a:r>
          </a:p>
          <a:p>
            <a:pPr marL="285750" indent="-285750"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fr-FR" sz="20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Couverture de zone</a:t>
            </a:r>
          </a:p>
          <a:p>
            <a:pPr marL="285750" indent="-285750"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fr-FR" sz="2000" b="1" noProof="0" dirty="0">
                <a:solidFill>
                  <a:srgbClr val="1B2733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Couverture continue</a:t>
            </a:r>
            <a:endParaRPr lang="fr-FR" sz="20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1400"/>
              </a:spcAft>
              <a:buSzPct val="100000"/>
              <a:buFont typeface="Arial" panose="020B0604020202020204" pitchFamily="34" charset="0"/>
              <a:buChar char="•"/>
            </a:pPr>
            <a:r>
              <a:rPr lang="fr-FR" sz="2000" b="1" noProof="0" dirty="0">
                <a:solidFill>
                  <a:srgbClr val="1B2733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Couverture périodique</a:t>
            </a:r>
            <a:endParaRPr lang="fr-FR" sz="20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6B86B9-EC1C-21CB-D9B6-B4F902E37F02}"/>
              </a:ext>
            </a:extLst>
          </p:cNvPr>
          <p:cNvSpPr txBox="1"/>
          <p:nvPr/>
        </p:nvSpPr>
        <p:spPr>
          <a:xfrm>
            <a:off x="8370626" y="6370639"/>
            <a:ext cx="3726979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sz="1800" b="1" noProof="0" dirty="0">
                <a:latin typeface="Calibri"/>
                <a:ea typeface="Calibri"/>
                <a:cs typeface="Calibri"/>
              </a:rPr>
              <a:t>9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199" y="437896"/>
            <a:ext cx="8933935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Méthodes de la couverture collaborative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05687" y="1196848"/>
            <a:ext cx="8836957" cy="2379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fr-FR" sz="2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Partitionnement spatial : diviser la zone en sous-régions </a:t>
            </a:r>
          </a:p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fr-FR" sz="2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Propriétés visées : exhaustivité, disjonction, équilibre, adaptabilité</a:t>
            </a:r>
            <a:endParaRPr lang="fr-FR" sz="2400" b="1" noProof="0" dirty="0"/>
          </a:p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fr-FR" sz="2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outils géométriques majeurs : </a:t>
            </a:r>
            <a:r>
              <a:rPr lang="fr-FR" sz="2400" b="1" noProof="0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Voronoï</a:t>
            </a:r>
            <a:r>
              <a:rPr lang="fr-FR" sz="2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Lloyd</a:t>
            </a:r>
            <a:endParaRPr lang="fr-FR" sz="2400" b="1" noProof="0" dirty="0"/>
          </a:p>
          <a:p>
            <a:pPr marL="342900" indent="-34290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r>
              <a:rPr lang="fr-FR" sz="2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: approches d'apprentissage automatique (CNN, RL)</a:t>
            </a:r>
            <a:endParaRPr lang="fr-FR" sz="2400" b="1" noProof="0" dirty="0"/>
          </a:p>
        </p:txBody>
      </p:sp>
      <p:sp>
        <p:nvSpPr>
          <p:cNvPr id="7" name="Shape 5"/>
          <p:cNvSpPr/>
          <p:nvPr/>
        </p:nvSpPr>
        <p:spPr>
          <a:xfrm>
            <a:off x="624535" y="3635756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624535" y="3635756"/>
            <a:ext cx="3520440" cy="91440"/>
          </a:xfrm>
          <a:prstGeom prst="rect">
            <a:avLst/>
          </a:prstGeom>
          <a:solidFill>
            <a:srgbClr val="6B8AA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825703" y="3910076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classiques</a:t>
            </a:r>
            <a:endParaRPr lang="fr-FR" sz="2400" noProof="0" dirty="0"/>
          </a:p>
        </p:txBody>
      </p:sp>
      <p:sp>
        <p:nvSpPr>
          <p:cNvPr id="10" name="Text 8"/>
          <p:cNvSpPr/>
          <p:nvPr/>
        </p:nvSpPr>
        <p:spPr>
          <a:xfrm>
            <a:off x="825703" y="4458716"/>
            <a:ext cx="3392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20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MILP, GA, PSO, recuit simulé</a:t>
            </a:r>
            <a:endParaRPr lang="fr-FR" sz="2000" b="1" noProof="0" dirty="0"/>
          </a:p>
        </p:txBody>
      </p:sp>
      <p:sp>
        <p:nvSpPr>
          <p:cNvPr id="11" name="Shape 9"/>
          <p:cNvSpPr/>
          <p:nvPr/>
        </p:nvSpPr>
        <p:spPr>
          <a:xfrm>
            <a:off x="4419295" y="3635756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10"/>
          <p:cNvSpPr/>
          <p:nvPr/>
        </p:nvSpPr>
        <p:spPr>
          <a:xfrm>
            <a:off x="4419295" y="3635756"/>
            <a:ext cx="3520440" cy="91440"/>
          </a:xfrm>
          <a:prstGeom prst="rect">
            <a:avLst/>
          </a:prstGeom>
          <a:solidFill>
            <a:srgbClr val="0EA5A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4620463" y="3910076"/>
            <a:ext cx="3593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géométriques</a:t>
            </a:r>
            <a:endParaRPr lang="fr-FR" sz="2400" noProof="0" dirty="0"/>
          </a:p>
        </p:txBody>
      </p:sp>
      <p:sp>
        <p:nvSpPr>
          <p:cNvPr id="14" name="Text 12"/>
          <p:cNvSpPr/>
          <p:nvPr/>
        </p:nvSpPr>
        <p:spPr>
          <a:xfrm>
            <a:off x="4620463" y="4458716"/>
            <a:ext cx="3520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Voronoï</a:t>
            </a:r>
            <a:r>
              <a:rPr lang="fr-FR" sz="20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Lloyd et leurs extensions</a:t>
            </a:r>
            <a:endParaRPr lang="fr-FR" sz="2000" b="1" noProof="0" dirty="0"/>
          </a:p>
        </p:txBody>
      </p:sp>
      <p:sp>
        <p:nvSpPr>
          <p:cNvPr id="15" name="Shape 13"/>
          <p:cNvSpPr/>
          <p:nvPr/>
        </p:nvSpPr>
        <p:spPr>
          <a:xfrm>
            <a:off x="8214055" y="3635756"/>
            <a:ext cx="3520440" cy="1965960"/>
          </a:xfrm>
          <a:prstGeom prst="roundRect">
            <a:avLst>
              <a:gd name="adj" fmla="val 3721"/>
            </a:avLst>
          </a:prstGeom>
          <a:solidFill>
            <a:srgbClr val="F4F6F8"/>
          </a:solidFill>
          <a:ln/>
          <a:effectLst>
            <a:outerShdw blurRad="101600" dist="38100" dir="27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4"/>
          <p:cNvSpPr/>
          <p:nvPr/>
        </p:nvSpPr>
        <p:spPr>
          <a:xfrm>
            <a:off x="8214055" y="3635756"/>
            <a:ext cx="3520440" cy="91440"/>
          </a:xfrm>
          <a:prstGeom prst="rect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Text 15"/>
          <p:cNvSpPr/>
          <p:nvPr/>
        </p:nvSpPr>
        <p:spPr>
          <a:xfrm>
            <a:off x="8415223" y="3910076"/>
            <a:ext cx="311810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Méthodes IA</a:t>
            </a:r>
            <a:endParaRPr lang="fr-FR" sz="2400" noProof="0" dirty="0"/>
          </a:p>
        </p:txBody>
      </p:sp>
      <p:sp>
        <p:nvSpPr>
          <p:cNvPr id="18" name="Text 16"/>
          <p:cNvSpPr/>
          <p:nvPr/>
        </p:nvSpPr>
        <p:spPr>
          <a:xfrm>
            <a:off x="8415223" y="4458716"/>
            <a:ext cx="311810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CNN, apprentissage par renforcement</a:t>
            </a:r>
            <a:endParaRPr lang="fr-FR" sz="2000" b="1" noProof="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6FC76FF-B04E-866C-CFBB-9A67B031A999}"/>
              </a:ext>
            </a:extLst>
          </p:cNvPr>
          <p:cNvSpPr txBox="1"/>
          <p:nvPr/>
        </p:nvSpPr>
        <p:spPr>
          <a:xfrm>
            <a:off x="6088912" y="6375565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10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990A31-27A2-7E78-5797-7BF8DF9B2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1000" y="-10633"/>
            <a:ext cx="5461000" cy="6857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91C2C3D-BA75-BD92-3F93-C5059EDF8929}"/>
              </a:ext>
            </a:extLst>
          </p:cNvPr>
          <p:cNvSpPr txBox="1"/>
          <p:nvPr/>
        </p:nvSpPr>
        <p:spPr>
          <a:xfrm>
            <a:off x="390267" y="1549105"/>
            <a:ext cx="6103088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200000"/>
              </a:lnSpc>
              <a:buNone/>
            </a:pPr>
            <a:r>
              <a:rPr lang="fr-FR" sz="2400" b="1" i="0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Notre approche est organisée en trois étapes :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fr-FR" sz="2400" noProof="0" dirty="0"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lang="fr-FR" sz="2400" b="1" noProof="0" dirty="0">
                <a:solidFill>
                  <a:schemeClr val="accent1">
                    <a:lumMod val="50000"/>
                  </a:schemeClr>
                </a:solidFill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Configuration du réseau de drones.</a:t>
            </a:r>
          </a:p>
          <a:p>
            <a:pPr marL="800100" lvl="1" indent="-342900">
              <a:lnSpc>
                <a:spcPct val="200000"/>
              </a:lnSpc>
              <a:buFont typeface="+mj-lt"/>
              <a:buAutoNum type="arabicPeriod"/>
            </a:pPr>
            <a:r>
              <a:rPr lang="fr-FR" sz="2400" noProof="0" dirty="0">
                <a:solidFill>
                  <a:schemeClr val="accent1">
                    <a:lumMod val="50000"/>
                  </a:schemeClr>
                </a:solidFill>
                <a:effectLst/>
              </a:rPr>
              <a:t> </a:t>
            </a:r>
            <a:r>
              <a:rPr lang="fr-FR" sz="2400" b="1" i="0" noProof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Planification des visites des cibles.</a:t>
            </a:r>
          </a:p>
          <a:p>
            <a:pPr marL="914400" lvl="1" indent="-457200">
              <a:lnSpc>
                <a:spcPct val="200000"/>
              </a:lnSpc>
              <a:buFont typeface="+mj-lt"/>
              <a:buAutoNum type="arabicPeriod"/>
            </a:pPr>
            <a:r>
              <a:rPr lang="fr-FR" sz="2400" b="1" i="0" noProof="0" dirty="0">
                <a:solidFill>
                  <a:schemeClr val="accent1">
                    <a:lumMod val="50000"/>
                  </a:schemeClr>
                </a:solidFill>
                <a:effectLst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Maintenance énergétique des drones.</a:t>
            </a:r>
          </a:p>
          <a:p>
            <a:pPr lvl="1">
              <a:buFont typeface="+mj-lt"/>
              <a:buAutoNum type="arabicPeriod"/>
            </a:pPr>
            <a:endParaRPr lang="fr-FR" sz="2000" b="0" i="0" noProof="0" dirty="0">
              <a:solidFill>
                <a:schemeClr val="accent1">
                  <a:lumMod val="50000"/>
                </a:schemeClr>
              </a:solidFill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lvl="1"/>
            <a:endParaRPr lang="fr-FR" b="0" i="0" noProof="0" dirty="0">
              <a:solidFill>
                <a:srgbClr val="000000"/>
              </a:solidFill>
              <a:effectLst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9CA369-5F56-BA7A-2483-61585068CEDC}"/>
              </a:ext>
            </a:extLst>
          </p:cNvPr>
          <p:cNvSpPr txBox="1"/>
          <p:nvPr/>
        </p:nvSpPr>
        <p:spPr>
          <a:xfrm>
            <a:off x="539015" y="345698"/>
            <a:ext cx="70356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Présentation </a:t>
            </a:r>
            <a:r>
              <a:rPr lang="fr-FR" sz="3600" b="1" i="0" noProof="0" dirty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de la contribution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F0B215-FC7C-E42C-C804-88CCD583FF26}"/>
              </a:ext>
            </a:extLst>
          </p:cNvPr>
          <p:cNvSpPr txBox="1"/>
          <p:nvPr/>
        </p:nvSpPr>
        <p:spPr>
          <a:xfrm>
            <a:off x="5996762" y="6462085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11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/>
          </a:p>
        </p:txBody>
      </p:sp>
    </p:spTree>
    <p:extLst>
      <p:ext uri="{BB962C8B-B14F-4D97-AF65-F5344CB8AC3E}">
        <p14:creationId xmlns:p14="http://schemas.microsoft.com/office/powerpoint/2010/main" val="24400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Content="1" isInverted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ADB20754-F0A0-F91A-E2A7-258684B01153}"/>
              </a:ext>
            </a:extLst>
          </p:cNvPr>
          <p:cNvSpPr/>
          <p:nvPr/>
        </p:nvSpPr>
        <p:spPr>
          <a:xfrm rot="900000">
            <a:off x="-274320" y="4572000"/>
            <a:ext cx="1188720" cy="2194560"/>
          </a:xfrm>
          <a:prstGeom prst="line">
            <a:avLst/>
          </a:prstGeom>
          <a:noFill/>
          <a:ln w="13970">
            <a:solidFill>
              <a:srgbClr val="BFAE7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1">
            <a:extLst>
              <a:ext uri="{FF2B5EF4-FFF2-40B4-BE49-F238E27FC236}">
                <a16:creationId xmlns:a16="http://schemas.microsoft.com/office/drawing/2014/main" id="{F04B0C49-66FE-8FA4-A7FF-E7845DCEAB2E}"/>
              </a:ext>
            </a:extLst>
          </p:cNvPr>
          <p:cNvSpPr/>
          <p:nvPr/>
        </p:nvSpPr>
        <p:spPr>
          <a:xfrm rot="720000">
            <a:off x="-164592" y="4800600"/>
            <a:ext cx="1051560" cy="1920240"/>
          </a:xfrm>
          <a:prstGeom prst="line">
            <a:avLst/>
          </a:prstGeom>
          <a:noFill/>
          <a:ln w="13970">
            <a:solidFill>
              <a:srgbClr val="BFAE7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966181E1-3ADE-21F6-52C5-1D753F0DA6CC}"/>
              </a:ext>
            </a:extLst>
          </p:cNvPr>
          <p:cNvSpPr/>
          <p:nvPr/>
        </p:nvSpPr>
        <p:spPr>
          <a:xfrm rot="540000">
            <a:off x="-54864" y="5029200"/>
            <a:ext cx="914400" cy="1645920"/>
          </a:xfrm>
          <a:prstGeom prst="line">
            <a:avLst/>
          </a:prstGeom>
          <a:noFill/>
          <a:ln w="13970">
            <a:solidFill>
              <a:srgbClr val="BFAE7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21CB15EA-3A14-855B-7D6E-66BCCE2684C5}"/>
              </a:ext>
            </a:extLst>
          </p:cNvPr>
          <p:cNvSpPr/>
          <p:nvPr/>
        </p:nvSpPr>
        <p:spPr>
          <a:xfrm rot="360000">
            <a:off x="54864" y="5257800"/>
            <a:ext cx="777240" cy="1371600"/>
          </a:xfrm>
          <a:prstGeom prst="line">
            <a:avLst/>
          </a:prstGeom>
          <a:noFill/>
          <a:ln w="13970">
            <a:solidFill>
              <a:srgbClr val="BFAE7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A42F6188-94E1-791B-0359-951EC359F65E}"/>
              </a:ext>
            </a:extLst>
          </p:cNvPr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utilisées pour la configuration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2461B7D8-EFD5-14CF-B023-BCAB3581E598}"/>
              </a:ext>
            </a:extLst>
          </p:cNvPr>
          <p:cNvSpPr/>
          <p:nvPr/>
        </p:nvSpPr>
        <p:spPr>
          <a:xfrm>
            <a:off x="539496" y="210312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3294B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B0FB5B9B-22B7-E145-AD06-9ACF4A40AEFC}"/>
              </a:ext>
            </a:extLst>
          </p:cNvPr>
          <p:cNvSpPr/>
          <p:nvPr/>
        </p:nvSpPr>
        <p:spPr>
          <a:xfrm>
            <a:off x="1453896" y="2606040"/>
            <a:ext cx="777240" cy="777240"/>
          </a:xfrm>
          <a:prstGeom prst="ellipse">
            <a:avLst/>
          </a:prstGeom>
          <a:solidFill>
            <a:schemeClr val="bg1">
              <a:lumMod val="9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6DA04087-7944-8A49-198B-EF118FEF4539}"/>
              </a:ext>
            </a:extLst>
          </p:cNvPr>
          <p:cNvSpPr/>
          <p:nvPr/>
        </p:nvSpPr>
        <p:spPr>
          <a:xfrm>
            <a:off x="1453896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2800" noProof="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C811AADC-D105-A512-F951-2C990E308C3E}"/>
              </a:ext>
            </a:extLst>
          </p:cNvPr>
          <p:cNvSpPr/>
          <p:nvPr/>
        </p:nvSpPr>
        <p:spPr>
          <a:xfrm>
            <a:off x="722376" y="3657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couverture</a:t>
            </a:r>
            <a:endParaRPr lang="fr-FR" sz="2800" noProof="0" dirty="0"/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EAFD58F4-524A-89B6-50DB-F928EBAF1BE1}"/>
              </a:ext>
            </a:extLst>
          </p:cNvPr>
          <p:cNvSpPr/>
          <p:nvPr/>
        </p:nvSpPr>
        <p:spPr>
          <a:xfrm>
            <a:off x="3374136" y="210312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3294B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2D30D3CD-6B99-3BC6-78D1-EFB9C2BC0A1C}"/>
              </a:ext>
            </a:extLst>
          </p:cNvPr>
          <p:cNvSpPr/>
          <p:nvPr/>
        </p:nvSpPr>
        <p:spPr>
          <a:xfrm>
            <a:off x="4288536" y="2606040"/>
            <a:ext cx="777240" cy="77724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3" name="Text 12">
            <a:extLst>
              <a:ext uri="{FF2B5EF4-FFF2-40B4-BE49-F238E27FC236}">
                <a16:creationId xmlns:a16="http://schemas.microsoft.com/office/drawing/2014/main" id="{7A3DBD9E-32AA-2587-DD5F-CD11A94E6856}"/>
              </a:ext>
            </a:extLst>
          </p:cNvPr>
          <p:cNvSpPr/>
          <p:nvPr/>
        </p:nvSpPr>
        <p:spPr>
          <a:xfrm>
            <a:off x="4288536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noProof="0" dirty="0">
                <a:latin typeface="Calibri" pitchFamily="34" charset="0"/>
                <a:cs typeface="Calibri" pitchFamily="34" charset="-120"/>
              </a:rPr>
              <a:t>2</a:t>
            </a:r>
            <a:endParaRPr lang="fr-FR" sz="2800" noProof="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90315F42-1A4E-E4B0-5949-A6A8C187D8BD}"/>
              </a:ext>
            </a:extLst>
          </p:cNvPr>
          <p:cNvSpPr/>
          <p:nvPr/>
        </p:nvSpPr>
        <p:spPr>
          <a:xfrm>
            <a:off x="3557016" y="3657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de charge</a:t>
            </a:r>
            <a:endParaRPr lang="fr-FR" sz="2800" noProof="0" dirty="0"/>
          </a:p>
        </p:txBody>
      </p:sp>
      <p:sp>
        <p:nvSpPr>
          <p:cNvPr id="25" name="Shape 14">
            <a:extLst>
              <a:ext uri="{FF2B5EF4-FFF2-40B4-BE49-F238E27FC236}">
                <a16:creationId xmlns:a16="http://schemas.microsoft.com/office/drawing/2014/main" id="{BA823DD9-8955-C711-B24A-EA5313DB38B6}"/>
              </a:ext>
            </a:extLst>
          </p:cNvPr>
          <p:cNvSpPr/>
          <p:nvPr/>
        </p:nvSpPr>
        <p:spPr>
          <a:xfrm>
            <a:off x="6208776" y="210312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3294B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Shape 15">
            <a:extLst>
              <a:ext uri="{FF2B5EF4-FFF2-40B4-BE49-F238E27FC236}">
                <a16:creationId xmlns:a16="http://schemas.microsoft.com/office/drawing/2014/main" id="{32475D57-925D-00DD-AAC7-7DE71849C0D5}"/>
              </a:ext>
            </a:extLst>
          </p:cNvPr>
          <p:cNvSpPr/>
          <p:nvPr/>
        </p:nvSpPr>
        <p:spPr>
          <a:xfrm>
            <a:off x="7123176" y="2606040"/>
            <a:ext cx="777240" cy="777240"/>
          </a:xfrm>
          <a:prstGeom prst="ellipse">
            <a:avLst/>
          </a:prstGeom>
          <a:solidFill>
            <a:schemeClr val="accent1">
              <a:lumMod val="75000"/>
            </a:schemeClr>
          </a:solidFill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EED49426-00D8-03B7-5705-0C9060EB8A3A}"/>
              </a:ext>
            </a:extLst>
          </p:cNvPr>
          <p:cNvSpPr/>
          <p:nvPr/>
        </p:nvSpPr>
        <p:spPr>
          <a:xfrm>
            <a:off x="7123176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2800" noProof="0" dirty="0"/>
          </a:p>
        </p:txBody>
      </p:sp>
      <p:sp>
        <p:nvSpPr>
          <p:cNvPr id="30" name="Text 17">
            <a:extLst>
              <a:ext uri="{FF2B5EF4-FFF2-40B4-BE49-F238E27FC236}">
                <a16:creationId xmlns:a16="http://schemas.microsoft.com/office/drawing/2014/main" id="{949B408A-CA4B-6513-F640-0E65037A8BFC}"/>
              </a:ext>
            </a:extLst>
          </p:cNvPr>
          <p:cNvSpPr/>
          <p:nvPr/>
        </p:nvSpPr>
        <p:spPr>
          <a:xfrm>
            <a:off x="6391656" y="3657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total</a:t>
            </a:r>
            <a:endParaRPr lang="fr-FR" sz="2800" noProof="0" dirty="0"/>
          </a:p>
        </p:txBody>
      </p:sp>
      <p:sp>
        <p:nvSpPr>
          <p:cNvPr id="32" name="Shape 18">
            <a:extLst>
              <a:ext uri="{FF2B5EF4-FFF2-40B4-BE49-F238E27FC236}">
                <a16:creationId xmlns:a16="http://schemas.microsoft.com/office/drawing/2014/main" id="{2FC992A7-99FD-8DFF-5D06-A97A11E2B627}"/>
              </a:ext>
            </a:extLst>
          </p:cNvPr>
          <p:cNvSpPr/>
          <p:nvPr/>
        </p:nvSpPr>
        <p:spPr>
          <a:xfrm>
            <a:off x="9043416" y="2103120"/>
            <a:ext cx="2606040" cy="3291840"/>
          </a:xfrm>
          <a:prstGeom prst="roundRect">
            <a:avLst>
              <a:gd name="adj" fmla="val 3158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25400" dir="5400000" algn="bl" rotWithShape="0">
              <a:srgbClr val="13294B">
                <a:alpha val="8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EDB4AB6C-6F05-7FEF-1785-8C3B13A9E92C}"/>
              </a:ext>
            </a:extLst>
          </p:cNvPr>
          <p:cNvSpPr/>
          <p:nvPr/>
        </p:nvSpPr>
        <p:spPr>
          <a:xfrm>
            <a:off x="9957816" y="2606040"/>
            <a:ext cx="777240" cy="777240"/>
          </a:xfrm>
          <a:prstGeom prst="ellipse">
            <a:avLst/>
          </a:prstGeom>
          <a:solidFill>
            <a:schemeClr val="accent1">
              <a:lumMod val="50000"/>
            </a:schemeClr>
          </a:solidFill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35" name="Text 20">
            <a:extLst>
              <a:ext uri="{FF2B5EF4-FFF2-40B4-BE49-F238E27FC236}">
                <a16:creationId xmlns:a16="http://schemas.microsoft.com/office/drawing/2014/main" id="{086AEDC2-C790-DF94-F72E-70A70D102C6A}"/>
              </a:ext>
            </a:extLst>
          </p:cNvPr>
          <p:cNvSpPr/>
          <p:nvPr/>
        </p:nvSpPr>
        <p:spPr>
          <a:xfrm>
            <a:off x="9957816" y="2606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FR" sz="2800" noProof="0" dirty="0"/>
          </a:p>
        </p:txBody>
      </p:sp>
      <p:sp>
        <p:nvSpPr>
          <p:cNvPr id="36" name="Text 21">
            <a:extLst>
              <a:ext uri="{FF2B5EF4-FFF2-40B4-BE49-F238E27FC236}">
                <a16:creationId xmlns:a16="http://schemas.microsoft.com/office/drawing/2014/main" id="{917DF00C-A1D8-1EEF-08CE-1ACB5048CF8C}"/>
              </a:ext>
            </a:extLst>
          </p:cNvPr>
          <p:cNvSpPr/>
          <p:nvPr/>
        </p:nvSpPr>
        <p:spPr>
          <a:xfrm>
            <a:off x="9226296" y="365760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Seuil</a:t>
            </a:r>
            <a:endParaRPr lang="fr-FR" sz="2800" noProof="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25D0CA-3712-D5DA-EDC6-DEF180B970D4}"/>
              </a:ext>
            </a:extLst>
          </p:cNvPr>
          <p:cNvSpPr txBox="1"/>
          <p:nvPr/>
        </p:nvSpPr>
        <p:spPr>
          <a:xfrm>
            <a:off x="608607" y="1149696"/>
            <a:ext cx="100114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Pour évaluer la qualité de la configuration , nous utilisons quatre métriques : </a:t>
            </a:r>
            <a:endParaRPr lang="fr-FR" sz="24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2AC2004-27B9-DC26-E4FC-6186844F0BD6}"/>
              </a:ext>
            </a:extLst>
          </p:cNvPr>
          <p:cNvSpPr txBox="1"/>
          <p:nvPr/>
        </p:nvSpPr>
        <p:spPr>
          <a:xfrm>
            <a:off x="5991872" y="6419556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12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/>
          </a:p>
        </p:txBody>
      </p:sp>
    </p:spTree>
    <p:extLst>
      <p:ext uri="{BB962C8B-B14F-4D97-AF65-F5344CB8AC3E}">
        <p14:creationId xmlns:p14="http://schemas.microsoft.com/office/powerpoint/2010/main" val="1384985403"/>
      </p:ext>
    </p:ext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3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8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1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2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2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2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>
                            <p:stCondLst>
                              <p:cond delay="4000"/>
                            </p:stCondLst>
                            <p:childTnLst>
                              <p:par>
                                <p:cTn id="13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5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67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8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8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83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9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9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9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9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6000"/>
                            </p:stCondLst>
                            <p:childTnLst>
                              <p:par>
                                <p:cTn id="20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1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1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1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2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2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3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3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4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4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4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48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5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5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6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8" grpId="0" animBg="1"/>
      <p:bldP spid="30" grpId="0" animBg="1"/>
      <p:bldP spid="32" grpId="0" animBg="1"/>
      <p:bldP spid="34" grpId="0" animBg="1"/>
      <p:bldP spid="35" grpId="0" animBg="1"/>
      <p:bldP spid="3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E4D2CFD-BB24-8EEF-9139-C6378F7FE101}"/>
              </a:ext>
            </a:extLst>
          </p:cNvPr>
          <p:cNvSpPr txBox="1"/>
          <p:nvPr/>
        </p:nvSpPr>
        <p:spPr>
          <a:xfrm>
            <a:off x="296229" y="1769574"/>
            <a:ext cx="10532880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i="0" noProof="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Mesure le pourcentage de cibles ou de la zone couverte par les drones.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Le taux de couverture est défini par: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fr-FR" sz="2400" b="1" noProof="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fr-FR" sz="2400" b="1" noProof="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fr-FR" sz="2400" b="1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Un taux élevé indique une meilleure qualité de surveillance.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E543F7-91C1-1B55-21AB-511F0A3BA167}"/>
              </a:ext>
            </a:extLst>
          </p:cNvPr>
          <p:cNvSpPr txBox="1"/>
          <p:nvPr/>
        </p:nvSpPr>
        <p:spPr>
          <a:xfrm>
            <a:off x="2493638" y="838211"/>
            <a:ext cx="4031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i="0" noProof="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Taux de couverture</a:t>
            </a:r>
            <a:endParaRPr lang="fr-FR" sz="3600" noProof="0" dirty="0">
              <a:solidFill>
                <a:srgbClr val="C00000"/>
              </a:solidFill>
              <a:effectLst/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109A9-6868-1CAF-BEB8-5B8E7CD18D22}"/>
              </a:ext>
            </a:extLst>
          </p:cNvPr>
          <p:cNvSpPr txBox="1"/>
          <p:nvPr/>
        </p:nvSpPr>
        <p:spPr>
          <a:xfrm>
            <a:off x="5943599" y="6370306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13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3B2B29D4-4CDF-C0EC-F46E-8EDC86DA6D13}"/>
                  </a:ext>
                </a:extLst>
              </p:cNvPr>
              <p:cNvSpPr txBox="1"/>
              <p:nvPr/>
            </p:nvSpPr>
            <p:spPr>
              <a:xfrm>
                <a:off x="2270742" y="3604335"/>
                <a:ext cx="5765489" cy="646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noProof="0" smtClean="0">
                          <a:latin typeface="Cambria Math" panose="02040503050406030204" pitchFamily="18" charset="0"/>
                        </a:rPr>
                        <m:t>𝑻𝒂𝒖𝒙</m:t>
                      </m:r>
                      <m:r>
                        <m:rPr>
                          <m:lit/>
                        </m:rPr>
                        <a:rPr lang="fr-FR" sz="2000" b="1" i="1" noProof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fr-FR" sz="2000" b="1" i="1" noProof="0">
                          <a:latin typeface="Cambria Math" panose="02040503050406030204" pitchFamily="18" charset="0"/>
                        </a:rPr>
                        <m:t>𝒄𝒐𝒖𝒗𝒆𝒓𝒕𝒖𝒓𝒆</m:t>
                      </m:r>
                      <m:r>
                        <a:rPr lang="fr-FR" sz="2000" b="1" i="1" noProof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1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fr-FR" sz="2000" b="1" i="1" noProof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fr-FR" sz="2000" b="1" i="1" noProof="0">
                                  <a:latin typeface="Cambria Math" panose="02040503050406030204" pitchFamily="18" charset="0"/>
                                </a:rPr>
                                <m:t>𝑷𝒐𝒊𝒅</m:t>
                              </m:r>
                              <m:sSub>
                                <m:sSubPr>
                                  <m:ctrlP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𝒄𝒊𝒃𝒍𝒆𝒔</m:t>
                                  </m:r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 </m:t>
                                  </m:r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𝒄𝒐𝒖𝒗𝒆𝒓𝒕𝒆𝒔</m:t>
                                  </m:r>
                                </m:sub>
                              </m:sSub>
                            </m:e>
                          </m:nary>
                        </m:num>
                        <m:den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fr-FR" sz="2000" b="1" i="1" noProof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r>
                                <a:rPr lang="fr-FR" sz="2000" b="1" i="1" noProof="0">
                                  <a:latin typeface="Cambria Math" panose="02040503050406030204" pitchFamily="18" charset="0"/>
                                </a:rPr>
                                <m:t>𝑷𝒐𝒊𝒅</m:t>
                              </m:r>
                              <m:sSub>
                                <m:sSubPr>
                                  <m:ctrlP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𝒔</m:t>
                                  </m:r>
                                </m:e>
                                <m:sub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𝒕𝒐𝒕𝒂𝒍</m:t>
                                  </m:r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 </m:t>
                                  </m:r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𝒅𝒆𝒔</m:t>
                                  </m:r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 </m:t>
                                  </m:r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𝒄𝒊𝒃𝒍𝒆𝒔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  <m:r>
                        <a:rPr lang="fr-FR" sz="2000" b="1" i="1" noProof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fr-FR" sz="2000" b="1" i="1" noProof="0">
                          <a:latin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fr-FR" sz="2000" b="1" noProof="0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3B2B29D4-4CDF-C0EC-F46E-8EDC86DA6D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0742" y="3604335"/>
                <a:ext cx="5765489" cy="64684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4">
            <a:extLst>
              <a:ext uri="{FF2B5EF4-FFF2-40B4-BE49-F238E27FC236}">
                <a16:creationId xmlns:a16="http://schemas.microsoft.com/office/drawing/2014/main" id="{4B68029B-B9EB-C0BA-4F7E-01E75E6A237F}"/>
              </a:ext>
            </a:extLst>
          </p:cNvPr>
          <p:cNvSpPr/>
          <p:nvPr/>
        </p:nvSpPr>
        <p:spPr>
          <a:xfrm>
            <a:off x="156691" y="304553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utilisées pour la configuration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2760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249044-DA9C-6134-E769-BD2C5893E424}"/>
              </a:ext>
            </a:extLst>
          </p:cNvPr>
          <p:cNvSpPr txBox="1"/>
          <p:nvPr/>
        </p:nvSpPr>
        <p:spPr>
          <a:xfrm>
            <a:off x="263223" y="1749468"/>
            <a:ext cx="9195143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i="0" noProof="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Mesure la répartition des cibles entre les UAV.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La variance de la charge est définie par: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fr-FR" sz="2400" b="1" noProof="0" dirty="0">
              <a:effectLst/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fr-FR" sz="2400" b="1" noProof="0" dirty="0">
              <a:effectLst/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i="0" noProof="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Une variance faible signifie que la charge est équilibrée entre les drones.</a:t>
            </a:r>
            <a:endParaRPr lang="fr-FR" sz="2400" b="1" noProof="0" dirty="0">
              <a:effectLst/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35EB7E-DD14-B5B3-9A1A-F1293D5FB491}"/>
              </a:ext>
            </a:extLst>
          </p:cNvPr>
          <p:cNvSpPr txBox="1"/>
          <p:nvPr/>
        </p:nvSpPr>
        <p:spPr>
          <a:xfrm>
            <a:off x="1272528" y="876155"/>
            <a:ext cx="70404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noProof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Variance d’équilibrage de charge</a:t>
            </a:r>
            <a:endParaRPr lang="fr-FR" sz="3600" noProof="0" dirty="0">
              <a:solidFill>
                <a:srgbClr val="C00000"/>
              </a:solidFill>
              <a:effectLst/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B2A514-E67A-35E5-B4D9-C8AAAB1515F6}"/>
              </a:ext>
            </a:extLst>
          </p:cNvPr>
          <p:cNvSpPr txBox="1"/>
          <p:nvPr/>
        </p:nvSpPr>
        <p:spPr>
          <a:xfrm>
            <a:off x="5954232" y="6349041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14 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848FE19F-D737-93D8-EE66-5030C8388079}"/>
                  </a:ext>
                </a:extLst>
              </p:cNvPr>
              <p:cNvSpPr txBox="1"/>
              <p:nvPr/>
            </p:nvSpPr>
            <p:spPr>
              <a:xfrm>
                <a:off x="2902310" y="2993239"/>
                <a:ext cx="3272114" cy="8715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noProof="0" smtClean="0">
                          <a:latin typeface="Cambria Math" panose="02040503050406030204" pitchFamily="18" charset="0"/>
                        </a:rPr>
                        <m:t>𝑽𝒂𝒓𝒊𝒂𝒏𝒄𝒆</m:t>
                      </m:r>
                      <m:r>
                        <a:rPr lang="fr-FR" sz="20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1" i="1" noProof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1" i="1" noProof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fr-FR" sz="2000" b="1" i="1" noProof="0">
                              <a:latin typeface="Cambria Math" panose="02040503050406030204" pitchFamily="18" charset="0"/>
                            </a:rPr>
                            <m:t>𝑵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fr-FR" sz="2000" b="1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sz="2000" b="1" i="1" noProof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fr-FR" sz="2000" b="1" i="1" noProof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fr-FR" sz="2000" b="1" i="1" noProof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fr-FR" sz="2000" b="1" i="1" noProof="0">
                              <a:latin typeface="Cambria Math" panose="02040503050406030204" pitchFamily="18" charset="0"/>
                            </a:rPr>
                            <m:t>𝑵</m:t>
                          </m:r>
                        </m:sup>
                        <m:e>
                          <m:sSup>
                            <m:sSupPr>
                              <m:ctrlPr>
                                <a:rPr lang="fr-FR" sz="2000" b="1" i="1" noProof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𝑵𝒊</m:t>
                                  </m:r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fr-FR" sz="2000" b="1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fr-FR" sz="2000" b="1" i="1" noProof="0">
                                          <a:latin typeface="Cambria Math" panose="02040503050406030204" pitchFamily="18" charset="0"/>
                                        </a:rPr>
                                        <m:t>𝑵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fr-FR" sz="2000" b="1" i="1" noProof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fr-FR" sz="2000" b="1" noProof="0" dirty="0"/>
              </a:p>
            </p:txBody>
          </p:sp>
        </mc:Choice>
        <mc:Fallback xmlns="">
          <p:sp>
            <p:nvSpPr>
              <p:cNvPr id="2" name="ZoneTexte 1">
                <a:extLst>
                  <a:ext uri="{FF2B5EF4-FFF2-40B4-BE49-F238E27FC236}">
                    <a16:creationId xmlns:a16="http://schemas.microsoft.com/office/drawing/2014/main" id="{848FE19F-D737-93D8-EE66-5030C83880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2310" y="2993239"/>
                <a:ext cx="3272114" cy="8715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4">
            <a:extLst>
              <a:ext uri="{FF2B5EF4-FFF2-40B4-BE49-F238E27FC236}">
                <a16:creationId xmlns:a16="http://schemas.microsoft.com/office/drawing/2014/main" id="{2D3778A3-FBB1-089E-9D54-47DF2F364945}"/>
              </a:ext>
            </a:extLst>
          </p:cNvPr>
          <p:cNvSpPr/>
          <p:nvPr/>
        </p:nvSpPr>
        <p:spPr>
          <a:xfrm>
            <a:off x="94547" y="296977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utilisées pour la configuration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1419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CFE40E-8CC7-67D9-3FF1-EB930F8F113F}"/>
              </a:ext>
            </a:extLst>
          </p:cNvPr>
          <p:cNvSpPr txBox="1"/>
          <p:nvPr/>
        </p:nvSpPr>
        <p:spPr>
          <a:xfrm>
            <a:off x="103424" y="1417467"/>
            <a:ext cx="11409329" cy="3913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i="0" noProof="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Le coût </a:t>
            </a:r>
            <a:r>
              <a:rPr lang="fr-FR" sz="2400" b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total est une fonction qui combine le taux de couverture avec la variance</a:t>
            </a:r>
            <a:r>
              <a:rPr lang="fr-FR" sz="2400" b="1" i="0" noProof="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La fonction qui permet de calculer le coût:</a:t>
            </a:r>
            <a:endParaRPr lang="fr-FR" sz="2400" b="1" noProof="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fr-FR" sz="2400" b="1" noProof="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fr-FR" sz="2400" b="1" noProof="0" dirty="0"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Le seuil détermine si un nouveau drone doit être ajouté pour améliorer la configuration lorsque le coût dépasse une valeur critique.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400" b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Le seuil est défini par : </a:t>
            </a:r>
            <a:endParaRPr lang="fr-FR" sz="2400" b="1" noProof="0" dirty="0">
              <a:effectLst/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4C73AE-EE37-89DB-3B0C-6904BBD8FB65}"/>
              </a:ext>
            </a:extLst>
          </p:cNvPr>
          <p:cNvSpPr txBox="1"/>
          <p:nvPr/>
        </p:nvSpPr>
        <p:spPr>
          <a:xfrm>
            <a:off x="2619302" y="777387"/>
            <a:ext cx="410109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i="0" noProof="0" dirty="0">
                <a:solidFill>
                  <a:srgbClr val="C00000"/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Coût total et seuil</a:t>
            </a:r>
            <a:endParaRPr lang="fr-FR" sz="3600" b="1" noProof="0" dirty="0">
              <a:solidFill>
                <a:srgbClr val="C00000"/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D29E64-4784-5CC1-AC53-3BA754A33CAB}"/>
              </a:ext>
            </a:extLst>
          </p:cNvPr>
          <p:cNvSpPr txBox="1"/>
          <p:nvPr/>
        </p:nvSpPr>
        <p:spPr>
          <a:xfrm>
            <a:off x="5964865" y="6349041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sz="1800" b="1" noProof="0" dirty="0">
                <a:latin typeface="Calibri"/>
                <a:ea typeface="Calibri"/>
                <a:cs typeface="Calibri"/>
              </a:rPr>
              <a:t>15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4F06AA58-82C7-A2A2-38A8-75FEB59D1290}"/>
                  </a:ext>
                </a:extLst>
              </p:cNvPr>
              <p:cNvSpPr txBox="1"/>
              <p:nvPr/>
            </p:nvSpPr>
            <p:spPr>
              <a:xfrm>
                <a:off x="679247" y="5754053"/>
                <a:ext cx="9183210" cy="129054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noProof="0" smtClean="0">
                          <a:latin typeface="Cambria Math" panose="02040503050406030204" pitchFamily="18" charset="0"/>
                        </a:rPr>
                        <m:t>𝑺𝑬𝑼𝑰𝑳</m:t>
                      </m:r>
                      <m:r>
                        <a:rPr lang="fr-FR" sz="2000" b="1" i="1" noProof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1" i="1" noProof="0" smtClean="0">
                          <a:latin typeface="Cambria Math" panose="02040503050406030204" pitchFamily="18" charset="0"/>
                        </a:rPr>
                        <m:t>𝜶</m:t>
                      </m:r>
                      <m:d>
                        <m:dPr>
                          <m:ctrlPr>
                            <a:rPr lang="fr-FR" sz="2000" b="1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1" i="1" noProof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000" b="1" i="1" noProof="0">
                              <a:latin typeface="Cambria Math" panose="02040503050406030204" pitchFamily="18" charset="0"/>
                            </a:rPr>
                            <m:t>−</m:t>
                          </m:r>
                          <m:func>
                            <m:funcPr>
                              <m:ctrlPr>
                                <a:rPr lang="fr-FR" sz="2000" b="1" i="1" noProof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fr-FR" sz="2000" b="1" i="0" noProof="0">
                                  <a:latin typeface="Cambria Math" panose="02040503050406030204" pitchFamily="18" charset="0"/>
                                </a:rPr>
                                <m:t>𝐦𝐢𝐧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, </m:t>
                                  </m:r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𝝆</m:t>
                                  </m:r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  <m:sSup>
                                    <m:sSupPr>
                                      <m:ctrlPr>
                                        <a:rPr lang="fr-FR" sz="2000" b="1" i="1" noProof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b="1" i="1" noProof="0">
                                          <a:latin typeface="Cambria Math" panose="02040503050406030204" pitchFamily="18" charset="0"/>
                                        </a:rPr>
                                        <m:t>𝑹</m:t>
                                      </m:r>
                                    </m:e>
                                    <m:sup>
                                      <m:r>
                                        <a:rPr lang="fr-FR" sz="2000" b="1" i="1" noProof="0">
                                          <a:latin typeface="Cambria Math" panose="02040503050406030204" pitchFamily="18" charset="0"/>
                                        </a:rPr>
                                        <m:t>𝟐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</m:e>
                      </m:d>
                      <m:r>
                        <a:rPr lang="fr-FR" sz="2000" b="1" i="1" noProof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000" b="1" i="1" noProof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fr-FR" sz="2000" b="1" i="1" noProof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fr-FR" sz="2000" b="1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1" i="1" noProof="0">
                              <a:latin typeface="Cambria Math" panose="02040503050406030204" pitchFamily="18" charset="0"/>
                            </a:rPr>
                            <m:t>𝝆</m:t>
                          </m:r>
                          <m:r>
                            <a:rPr lang="fr-FR" sz="2000" b="1" i="1" noProof="0">
                              <a:latin typeface="Cambria Math" panose="02040503050406030204" pitchFamily="18" charset="0"/>
                            </a:rPr>
                            <m:t>⋅</m:t>
                          </m:r>
                          <m:sSup>
                            <m:sSupPr>
                              <m:ctrlPr>
                                <a:rPr lang="fr-FR" sz="2000" b="1" i="1" noProof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sz="2000" b="1" i="1" noProof="0">
                                  <a:latin typeface="Cambria Math" panose="02040503050406030204" pitchFamily="18" charset="0"/>
                                </a:rPr>
                                <m:t>𝑹</m:t>
                              </m:r>
                            </m:e>
                            <m:sup>
                              <m:r>
                                <a:rPr lang="fr-FR" sz="2000" b="1" i="1" noProof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US" sz="2000" b="1" noProof="0" dirty="0"/>
              </a:p>
              <a:p>
                <a:pPr algn="ctr">
                  <a:lnSpc>
                    <a:spcPct val="150000"/>
                  </a:lnSpc>
                </a:pPr>
                <a:r>
                  <a:rPr lang="fr-FR" sz="2000" b="1" dirty="0"/>
                  <a:t>Avec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𝒆𝒕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𝟒</m:t>
                    </m:r>
                    <m:r>
                      <a:rPr lang="fr-FR" sz="20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1" i="0" smtClean="0">
                        <a:latin typeface="Cambria Math" panose="02040503050406030204" pitchFamily="18" charset="0"/>
                      </a:rPr>
                      <m:t>𝐞𝐭</m:t>
                    </m:r>
                  </m:oMath>
                </a14:m>
                <a:r>
                  <a:rPr lang="fr-FR" sz="2000" b="1" dirty="0"/>
                  <a:t>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</a:rPr>
                      <m:t>𝝆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𝒏𝒃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𝒕𝒐𝒕𝒂𝒍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𝒅𝒆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𝒄𝒊𝒃𝒍𝒆𝒔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𝒔𝒖𝒓𝒇𝒂𝒄𝒆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1" i="1" smtClean="0">
                        <a:latin typeface="Cambria Math" panose="02040503050406030204" pitchFamily="18" charset="0"/>
                      </a:rPr>
                      <m:t>𝒕𝒐𝒕𝒂𝒍</m:t>
                    </m:r>
                  </m:oMath>
                </a14:m>
                <a:endParaRPr lang="fr-FR" sz="2000" b="1" dirty="0"/>
              </a:p>
              <a:p>
                <a:endParaRPr lang="fr-FR" sz="2000" b="1" noProof="0" dirty="0"/>
              </a:p>
            </p:txBody>
          </p:sp>
        </mc:Choice>
        <mc:Fallback xmlns="">
          <p:sp>
            <p:nvSpPr>
              <p:cNvPr id="5" name="ZoneTexte 4">
                <a:extLst>
                  <a:ext uri="{FF2B5EF4-FFF2-40B4-BE49-F238E27FC236}">
                    <a16:creationId xmlns:a16="http://schemas.microsoft.com/office/drawing/2014/main" id="{4F06AA58-82C7-A2A2-38A8-75FEB59D1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247" y="5754053"/>
                <a:ext cx="9183210" cy="12905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 4">
            <a:extLst>
              <a:ext uri="{FF2B5EF4-FFF2-40B4-BE49-F238E27FC236}">
                <a16:creationId xmlns:a16="http://schemas.microsoft.com/office/drawing/2014/main" id="{715ABBA3-590D-394A-E6AF-7EA9285AA913}"/>
              </a:ext>
            </a:extLst>
          </p:cNvPr>
          <p:cNvSpPr/>
          <p:nvPr/>
        </p:nvSpPr>
        <p:spPr>
          <a:xfrm>
            <a:off x="103425" y="139627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Métriques utilisées pour la configuration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ZoneTexte 1">
                <a:extLst>
                  <a:ext uri="{FF2B5EF4-FFF2-40B4-BE49-F238E27FC236}">
                    <a16:creationId xmlns:a16="http://schemas.microsoft.com/office/drawing/2014/main" id="{1EC2860E-CB67-E6BB-E3C4-C7AB5023DAB3}"/>
                  </a:ext>
                </a:extLst>
              </p:cNvPr>
              <p:cNvSpPr txBox="1"/>
              <p:nvPr/>
            </p:nvSpPr>
            <p:spPr>
              <a:xfrm>
                <a:off x="1709582" y="2697534"/>
                <a:ext cx="6602448" cy="8668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1" i="1" noProof="0" smtClean="0">
                          <a:latin typeface="Cambria Math" panose="02040503050406030204" pitchFamily="18" charset="0"/>
                        </a:rPr>
                        <m:t>𝑪𝒐</m:t>
                      </m:r>
                      <m:acc>
                        <m:accPr>
                          <m:chr m:val="̂"/>
                          <m:ctrlPr>
                            <a:rPr lang="fr-FR" sz="2000" b="1" i="1" noProof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000" b="1" i="1" noProof="0">
                              <a:latin typeface="Cambria Math" panose="02040503050406030204" pitchFamily="18" charset="0"/>
                            </a:rPr>
                            <m:t>𝒖</m:t>
                          </m:r>
                        </m:e>
                      </m:acc>
                      <m:r>
                        <a:rPr lang="fr-FR" sz="2000" b="1" i="1" noProof="0"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sz="2000" b="1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1" i="1" noProof="0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fr-FR" sz="2000" b="1" i="1" noProof="0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fr-FR" sz="2000" b="1" i="1" noProof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1" i="1" noProof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fr-FR" sz="2000" b="1" i="1" noProof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fr-FR" sz="2000" b="1" i="1" noProof="0">
                              <a:latin typeface="Cambria Math" panose="02040503050406030204" pitchFamily="18" charset="0"/>
                            </a:rPr>
                            <m:t>𝑻𝒂𝒖𝒙</m:t>
                          </m:r>
                          <m:r>
                            <m:rPr>
                              <m:lit/>
                            </m:rPr>
                            <a:rPr lang="fr-FR" sz="2000" b="1" i="1" noProof="0">
                              <a:latin typeface="Cambria Math" panose="02040503050406030204" pitchFamily="18" charset="0"/>
                            </a:rPr>
                            <m:t>_</m:t>
                          </m:r>
                          <m:r>
                            <a:rPr lang="fr-FR" sz="2000" b="1" i="1" noProof="0">
                              <a:latin typeface="Cambria Math" panose="02040503050406030204" pitchFamily="18" charset="0"/>
                            </a:rPr>
                            <m:t>𝒄𝒐𝒖𝒗𝒆𝒓𝒕𝒖𝒓</m:t>
                          </m:r>
                          <m:sSub>
                            <m:sSubPr>
                              <m:ctrlPr>
                                <a:rPr lang="fr-FR" sz="2000" b="1" i="1" noProof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1" i="1" noProof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  <m:sub>
                              <m:r>
                                <a:rPr lang="fr-FR" sz="2000" b="1" i="1" noProof="0">
                                  <a:latin typeface="Cambria Math" panose="02040503050406030204" pitchFamily="18" charset="0"/>
                                </a:rPr>
                                <m:t>𝒓</m:t>
                              </m:r>
                              <m:acc>
                                <m:accPr>
                                  <m:chr m:val="́"/>
                                  <m:ctrlP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fr-FR" sz="2000" b="1" i="1" noProof="0">
                                      <a:latin typeface="Cambria Math" panose="02040503050406030204" pitchFamily="18" charset="0"/>
                                    </a:rPr>
                                    <m:t>𝒆</m:t>
                                  </m:r>
                                </m:e>
                              </m:acc>
                              <m:r>
                                <a:rPr lang="fr-FR" sz="2000" b="1" i="1" noProof="0">
                                  <a:latin typeface="Cambria Math" panose="02040503050406030204" pitchFamily="18" charset="0"/>
                                </a:rPr>
                                <m:t>𝒆𝒍</m:t>
                              </m:r>
                            </m:sub>
                          </m:sSub>
                        </m:e>
                      </m:d>
                      <m:r>
                        <a:rPr lang="fr-FR" sz="2000" b="1" i="1" noProof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sz="2000" b="1" i="1" noProof="0">
                          <a:latin typeface="Cambria Math" panose="02040503050406030204" pitchFamily="18" charset="0"/>
                        </a:rPr>
                        <m:t>𝜷</m:t>
                      </m:r>
                      <m:r>
                        <a:rPr lang="fr-FR" sz="2000" b="1" i="1" noProof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fr-FR" sz="2000" b="1" i="1" noProof="0">
                          <a:latin typeface="Cambria Math" panose="02040503050406030204" pitchFamily="18" charset="0"/>
                        </a:rPr>
                        <m:t>𝑽𝒂𝒓𝒊𝒂𝒏𝒄𝒆</m:t>
                      </m:r>
                    </m:oMath>
                  </m:oMathPara>
                </a14:m>
                <a:endParaRPr lang="en-US" sz="2000" b="1" noProof="0" dirty="0"/>
              </a:p>
              <a:p>
                <a:pPr algn="ctr">
                  <a:lnSpc>
                    <a:spcPct val="150000"/>
                  </a:lnSpc>
                </a:pPr>
                <a:r>
                  <a:rPr lang="fr-FR" sz="2000" b="1" noProof="0" dirty="0"/>
                  <a:t>Avec </a:t>
                </a:r>
                <a14:m>
                  <m:oMath xmlns:m="http://schemas.openxmlformats.org/officeDocument/2006/math">
                    <m:r>
                      <a:rPr lang="fr-FR" sz="2000" b="1" i="1">
                        <a:latin typeface="Cambria Math" panose="02040503050406030204" pitchFamily="18" charset="0"/>
                      </a:rPr>
                      <m:t>𝜶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𝟔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𝒆𝒕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fr-FR" sz="2000" b="1" i="1">
                        <a:latin typeface="Cambria Math" panose="02040503050406030204" pitchFamily="18" charset="0"/>
                      </a:rPr>
                      <m:t>𝜷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𝟎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𝟒</m:t>
                    </m:r>
                  </m:oMath>
                </a14:m>
                <a:endParaRPr lang="fr-FR" sz="2000" b="1" noProof="0" dirty="0"/>
              </a:p>
            </p:txBody>
          </p:sp>
        </mc:Choice>
        <mc:Fallback xmlns="">
          <p:sp>
            <p:nvSpPr>
              <p:cNvPr id="7" name="ZoneTexte 1">
                <a:extLst>
                  <a:ext uri="{FF2B5EF4-FFF2-40B4-BE49-F238E27FC236}">
                    <a16:creationId xmlns:a16="http://schemas.microsoft.com/office/drawing/2014/main" id="{1EC2860E-CB67-E6BB-E3C4-C7AB5023DA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09582" y="2697534"/>
                <a:ext cx="6602448" cy="866840"/>
              </a:xfrm>
              <a:prstGeom prst="rect">
                <a:avLst/>
              </a:prstGeom>
              <a:blipFill>
                <a:blip r:embed="rId4"/>
                <a:stretch>
                  <a:fillRect b="-16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3197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22F614E-2B73-3C9B-AB1E-6AA2E325FF1A}"/>
              </a:ext>
            </a:extLst>
          </p:cNvPr>
          <p:cNvSpPr txBox="1"/>
          <p:nvPr/>
        </p:nvSpPr>
        <p:spPr>
          <a:xfrm>
            <a:off x="829802" y="1698980"/>
            <a:ext cx="7461581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rt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i="0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Cette étape consiste à :</a:t>
            </a:r>
            <a:endParaRPr lang="fr-FR" sz="2400" noProof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i="0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Déterminer le nombre de drones nécessaires.</a:t>
            </a:r>
            <a:endParaRPr lang="fr-FR" sz="2400" noProof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i="0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Calculer leurs positions initiales.</a:t>
            </a:r>
            <a:endParaRPr lang="fr-FR" sz="2400" noProof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i="0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Répartir efficacement les zones de couverture.</a:t>
            </a:r>
            <a:endParaRPr lang="fr-FR" sz="2400" noProof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i="0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Minimiser les zones non couvertes.</a:t>
            </a:r>
            <a:endParaRPr lang="fr-FR" sz="2400" noProof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l" rtl="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i="0" noProof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Deux approches sont étudiées :</a:t>
            </a:r>
            <a:endParaRPr lang="fr-FR" sz="2400" noProof="0" dirty="0"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i="0" noProof="0" dirty="0">
                <a:solidFill>
                  <a:srgbClr val="C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Algorithme de Lloyd.</a:t>
            </a:r>
            <a:endParaRPr lang="fr-FR" sz="2400" noProof="0" dirty="0">
              <a:solidFill>
                <a:srgbClr val="C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i="0" noProof="0" dirty="0">
                <a:solidFill>
                  <a:srgbClr val="C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Réseau de neurones convolutifs (CNN).</a:t>
            </a:r>
            <a:endParaRPr lang="fr-FR" sz="2400" noProof="0" dirty="0">
              <a:solidFill>
                <a:srgbClr val="C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C28C0-BE86-6DED-616C-FE5F5A07B39A}"/>
              </a:ext>
            </a:extLst>
          </p:cNvPr>
          <p:cNvSpPr txBox="1"/>
          <p:nvPr/>
        </p:nvSpPr>
        <p:spPr>
          <a:xfrm>
            <a:off x="155704" y="384888"/>
            <a:ext cx="104587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i="0" noProof="0" dirty="0">
                <a:solidFill>
                  <a:schemeClr val="accent1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Étape 1 - </a:t>
            </a:r>
            <a:r>
              <a:rPr lang="fr-FR" sz="3200" b="1" noProof="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Configuration du réseau multi-UAV en fonction de la couverture et de l'équilibrage de charge</a:t>
            </a:r>
            <a:endParaRPr lang="fr-FR" sz="3200" b="1" noProof="0" dirty="0">
              <a:solidFill>
                <a:schemeClr val="accent1">
                  <a:lumMod val="7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9090C4-76BC-9486-9E66-50000B3544CE}"/>
              </a:ext>
            </a:extLst>
          </p:cNvPr>
          <p:cNvSpPr txBox="1"/>
          <p:nvPr/>
        </p:nvSpPr>
        <p:spPr>
          <a:xfrm>
            <a:off x="5964864" y="6327776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sz="1800" b="1" noProof="0" dirty="0">
                <a:latin typeface="Calibri"/>
                <a:ea typeface="Calibri"/>
                <a:cs typeface="Calibri"/>
              </a:rPr>
              <a:t>16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/>
          </a:p>
        </p:txBody>
      </p:sp>
    </p:spTree>
    <p:extLst>
      <p:ext uri="{BB962C8B-B14F-4D97-AF65-F5344CB8AC3E}">
        <p14:creationId xmlns:p14="http://schemas.microsoft.com/office/powerpoint/2010/main" val="3195195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1614016" y="449214"/>
            <a:ext cx="5514753" cy="5775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3200" b="1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d</a:t>
            </a:r>
            <a:r>
              <a:rPr lang="fr-FR" sz="3200" b="1" noProof="0" dirty="0" err="1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iagrammes</a:t>
            </a:r>
            <a:r>
              <a:rPr lang="fr-FR" sz="3200" b="1" noProof="0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</a:t>
            </a:r>
            <a:r>
              <a:rPr lang="fr-FR" sz="3200" b="1" noProof="0" dirty="0" err="1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Voronoï</a:t>
            </a:r>
            <a:endParaRPr lang="fr-FR" sz="3200" noProof="0" dirty="0">
              <a:solidFill>
                <a:srgbClr val="C0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95536" y="1284022"/>
            <a:ext cx="7710690" cy="523686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Le diagramme de </a:t>
            </a:r>
            <a:r>
              <a:rPr lang="fr-FR" sz="2400" b="1" noProof="0" dirty="0" err="1">
                <a:latin typeface="Calibri" panose="020F0502020204030204" pitchFamily="34" charset="0"/>
                <a:cs typeface="Calibri" panose="020F0502020204030204" pitchFamily="34" charset="0"/>
              </a:rPr>
              <a:t>Voronoï</a:t>
            </a:r>
            <a:r>
              <a:rPr lang="fr-FR" sz="2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 est une méthode de partitionnement spatial qui divise une zone en plusieurs régions.</a:t>
            </a:r>
            <a:endParaRPr lang="fr-FR" sz="24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Chaque région est associée à un drone et contient tous les points plus proches de ce drone que des autres.</a:t>
            </a:r>
            <a:endParaRPr lang="fr-FR" sz="2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Cette technique permet :</a:t>
            </a:r>
            <a:endParaRPr lang="fr-FR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000" noProof="0" dirty="0">
                <a:latin typeface="Calibri" panose="020F0502020204030204" pitchFamily="34" charset="0"/>
                <a:cs typeface="Calibri" panose="020F0502020204030204" pitchFamily="34" charset="0"/>
              </a:rPr>
              <a:t>Une répartition naturelle de l'espace entre les UAV.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noProof="0" dirty="0">
                <a:latin typeface="Calibri" panose="020F0502020204030204" pitchFamily="34" charset="0"/>
                <a:cs typeface="Calibri" panose="020F0502020204030204" pitchFamily="34" charset="0"/>
              </a:rPr>
              <a:t>Une réduction des chevauchements de couverture.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noProof="0" dirty="0">
                <a:latin typeface="Calibri" panose="020F0502020204030204" pitchFamily="34" charset="0"/>
                <a:cs typeface="Calibri" panose="020F0502020204030204" pitchFamily="34" charset="0"/>
              </a:rPr>
              <a:t>Un meilleur équilibrage de la charge.</a:t>
            </a:r>
          </a:p>
          <a:p>
            <a:pPr marL="1200150" lvl="2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noProof="0" dirty="0">
                <a:latin typeface="Calibri" panose="020F0502020204030204" pitchFamily="34" charset="0"/>
                <a:cs typeface="Calibri" panose="020F0502020204030204" pitchFamily="34" charset="0"/>
              </a:rPr>
              <a:t>Une amélioration de l'efficacité du déploiement.</a:t>
            </a:r>
          </a:p>
        </p:txBody>
      </p:sp>
      <p:sp>
        <p:nvSpPr>
          <p:cNvPr id="8" name="Text 6"/>
          <p:cNvSpPr/>
          <p:nvPr/>
        </p:nvSpPr>
        <p:spPr>
          <a:xfrm>
            <a:off x="7806226" y="1746504"/>
            <a:ext cx="2735897" cy="321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FR" sz="1300" noProof="0" dirty="0"/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5C579BB5-7B7A-BDAB-94E6-8937E4611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0385" y="1958844"/>
            <a:ext cx="3145675" cy="309725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B345A002-8847-AB6C-4110-38ADD0CABF38}"/>
              </a:ext>
            </a:extLst>
          </p:cNvPr>
          <p:cNvSpPr txBox="1"/>
          <p:nvPr/>
        </p:nvSpPr>
        <p:spPr>
          <a:xfrm>
            <a:off x="5890437" y="6336217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sz="1800" b="1" noProof="0" dirty="0">
                <a:latin typeface="Calibri"/>
                <a:ea typeface="Calibri"/>
                <a:cs typeface="Calibri"/>
              </a:rPr>
              <a:t>17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1E4C25-EEA7-6E8F-3BD8-E22634EDC7AA}"/>
              </a:ext>
            </a:extLst>
          </p:cNvPr>
          <p:cNvSpPr txBox="1"/>
          <p:nvPr/>
        </p:nvSpPr>
        <p:spPr>
          <a:xfrm>
            <a:off x="0" y="0"/>
            <a:ext cx="90729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5FCBEF">
                    <a:lumMod val="75000"/>
                  </a:srgb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Étape 1 - Configuration du réseau multi-UAV  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4415" y="735561"/>
            <a:ext cx="6920564" cy="5486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3200" b="1" noProof="0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Approche 1: Algorithme de Lloyd</a:t>
            </a:r>
            <a:endParaRPr lang="fr-FR" sz="3200" noProof="0" dirty="0">
              <a:solidFill>
                <a:srgbClr val="C00000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598316" y="2138915"/>
            <a:ext cx="2697480" cy="1554480"/>
          </a:xfrm>
          <a:prstGeom prst="roundRect">
            <a:avLst>
              <a:gd name="adj" fmla="val 4706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762908" y="2230355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0EA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fr-FR" sz="2200" noProof="0" dirty="0"/>
          </a:p>
        </p:txBody>
      </p:sp>
      <p:sp>
        <p:nvSpPr>
          <p:cNvPr id="9" name="Text 7"/>
          <p:cNvSpPr/>
          <p:nvPr/>
        </p:nvSpPr>
        <p:spPr>
          <a:xfrm>
            <a:off x="762908" y="2824715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initial des drones dans la zone </a:t>
            </a:r>
            <a:endParaRPr lang="fr-FR" sz="2000" b="1" noProof="0" dirty="0"/>
          </a:p>
        </p:txBody>
      </p:sp>
      <p:sp>
        <p:nvSpPr>
          <p:cNvPr id="10" name="Shape 8"/>
          <p:cNvSpPr/>
          <p:nvPr/>
        </p:nvSpPr>
        <p:spPr>
          <a:xfrm>
            <a:off x="3304940" y="2916155"/>
            <a:ext cx="91440" cy="0"/>
          </a:xfrm>
          <a:prstGeom prst="line">
            <a:avLst/>
          </a:prstGeom>
          <a:noFill/>
          <a:ln w="25400">
            <a:solidFill>
              <a:srgbClr val="0EA5A8"/>
            </a:solidFill>
            <a:prstDash val="solid"/>
            <a:tailEnd type="triangle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3405524" y="2138915"/>
            <a:ext cx="2697480" cy="1554480"/>
          </a:xfrm>
          <a:prstGeom prst="roundRect">
            <a:avLst>
              <a:gd name="adj" fmla="val 4706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3570116" y="2230355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0EA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fr-FR" sz="2200" noProof="0" dirty="0"/>
          </a:p>
        </p:txBody>
      </p:sp>
      <p:sp>
        <p:nvSpPr>
          <p:cNvPr id="13" name="Text 11"/>
          <p:cNvSpPr/>
          <p:nvPr/>
        </p:nvSpPr>
        <p:spPr>
          <a:xfrm>
            <a:off x="3570116" y="2824715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du diagramme de </a:t>
            </a:r>
            <a:r>
              <a:rPr lang="fr-FR" sz="2000" b="1" noProof="0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Voronoï</a:t>
            </a:r>
            <a:endParaRPr lang="fr-FR" sz="2000" b="1" noProof="0" dirty="0"/>
          </a:p>
        </p:txBody>
      </p:sp>
      <p:sp>
        <p:nvSpPr>
          <p:cNvPr id="14" name="Shape 12"/>
          <p:cNvSpPr/>
          <p:nvPr/>
        </p:nvSpPr>
        <p:spPr>
          <a:xfrm>
            <a:off x="6112148" y="2916155"/>
            <a:ext cx="91440" cy="0"/>
          </a:xfrm>
          <a:prstGeom prst="line">
            <a:avLst/>
          </a:prstGeom>
          <a:noFill/>
          <a:ln w="25400">
            <a:solidFill>
              <a:srgbClr val="0EA5A8"/>
            </a:solidFill>
            <a:prstDash val="solid"/>
            <a:tailEnd type="triangle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6212732" y="2138915"/>
            <a:ext cx="2697480" cy="1554480"/>
          </a:xfrm>
          <a:prstGeom prst="roundRect">
            <a:avLst>
              <a:gd name="adj" fmla="val 4706"/>
            </a:avLst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6377324" y="2230355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0EA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fr-FR" sz="2200" noProof="0" dirty="0"/>
          </a:p>
        </p:txBody>
      </p:sp>
      <p:sp>
        <p:nvSpPr>
          <p:cNvPr id="17" name="Text 15"/>
          <p:cNvSpPr/>
          <p:nvPr/>
        </p:nvSpPr>
        <p:spPr>
          <a:xfrm>
            <a:off x="6377324" y="2824715"/>
            <a:ext cx="23682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du centroïde de chaque cellule</a:t>
            </a:r>
            <a:endParaRPr lang="fr-FR" sz="2000" b="1" noProof="0" dirty="0"/>
          </a:p>
        </p:txBody>
      </p:sp>
      <p:sp>
        <p:nvSpPr>
          <p:cNvPr id="18" name="Shape 16"/>
          <p:cNvSpPr/>
          <p:nvPr/>
        </p:nvSpPr>
        <p:spPr>
          <a:xfrm>
            <a:off x="8919356" y="2916155"/>
            <a:ext cx="91440" cy="0"/>
          </a:xfrm>
          <a:prstGeom prst="line">
            <a:avLst/>
          </a:prstGeom>
          <a:noFill/>
          <a:ln w="25400">
            <a:solidFill>
              <a:srgbClr val="0EA5A8"/>
            </a:solidFill>
            <a:prstDash val="solid"/>
            <a:tailEnd type="triangle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7"/>
          <p:cNvSpPr/>
          <p:nvPr/>
        </p:nvSpPr>
        <p:spPr>
          <a:xfrm>
            <a:off x="9019940" y="2138915"/>
            <a:ext cx="2697480" cy="1554480"/>
          </a:xfrm>
          <a:prstGeom prst="roundRect">
            <a:avLst>
              <a:gd name="adj" fmla="val 4706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9184532" y="2230355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0EA5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fr-FR" sz="2200" noProof="0" dirty="0"/>
          </a:p>
        </p:txBody>
      </p:sp>
      <p:sp>
        <p:nvSpPr>
          <p:cNvPr id="21" name="Text 19"/>
          <p:cNvSpPr/>
          <p:nvPr/>
        </p:nvSpPr>
        <p:spPr>
          <a:xfrm>
            <a:off x="9184531" y="2824715"/>
            <a:ext cx="2742437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 du drone vers son centroïde</a:t>
            </a:r>
            <a:endParaRPr lang="fr-FR" sz="2000" b="1" noProof="0" dirty="0"/>
          </a:p>
        </p:txBody>
      </p:sp>
      <p:sp>
        <p:nvSpPr>
          <p:cNvPr id="22" name="Shape 20"/>
          <p:cNvSpPr/>
          <p:nvPr/>
        </p:nvSpPr>
        <p:spPr>
          <a:xfrm>
            <a:off x="501034" y="3994280"/>
            <a:ext cx="5232653" cy="2479261"/>
          </a:xfrm>
          <a:prstGeom prst="roundRect">
            <a:avLst>
              <a:gd name="adj" fmla="val 3200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659594" y="4136832"/>
            <a:ext cx="3170808" cy="32004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d'équilibre</a:t>
            </a:r>
            <a:endParaRPr lang="fr-FR" sz="20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1852295" y="4494983"/>
            <a:ext cx="126506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pi = Ci</a:t>
            </a:r>
            <a:endParaRPr lang="fr-FR" sz="20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562756" y="5054620"/>
            <a:ext cx="4625932" cy="82117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drone atteint la position du de sa propre cellule : la configuration est alors </a:t>
            </a:r>
            <a:r>
              <a:rPr lang="fr-F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stable. </a:t>
            </a:r>
            <a:endParaRPr lang="fr-FR" sz="20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237437" y="4522472"/>
            <a:ext cx="311203" cy="878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200"/>
              </a:spcAft>
              <a:buSzPct val="100000"/>
            </a:pPr>
            <a:endParaRPr lang="fr-FR" sz="1400" b="1" noProof="0" dirty="0"/>
          </a:p>
        </p:txBody>
      </p:sp>
      <p:pic>
        <p:nvPicPr>
          <p:cNvPr id="32" name="Image 31">
            <a:extLst>
              <a:ext uri="{FF2B5EF4-FFF2-40B4-BE49-F238E27FC236}">
                <a16:creationId xmlns:a16="http://schemas.microsoft.com/office/drawing/2014/main" id="{08E5904C-A9E0-2613-A5CE-10A0E58A9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6200000">
            <a:off x="7789754" y="2179365"/>
            <a:ext cx="2178431" cy="5901435"/>
          </a:xfrm>
          <a:prstGeom prst="rect">
            <a:avLst/>
          </a:prstGeom>
        </p:spPr>
      </p:pic>
      <p:sp>
        <p:nvSpPr>
          <p:cNvPr id="36" name="ZoneTexte 35">
            <a:extLst>
              <a:ext uri="{FF2B5EF4-FFF2-40B4-BE49-F238E27FC236}">
                <a16:creationId xmlns:a16="http://schemas.microsoft.com/office/drawing/2014/main" id="{278F446E-6F94-EC89-5B19-E2C89821C257}"/>
              </a:ext>
            </a:extLst>
          </p:cNvPr>
          <p:cNvSpPr txBox="1"/>
          <p:nvPr/>
        </p:nvSpPr>
        <p:spPr>
          <a:xfrm>
            <a:off x="7128148" y="5794728"/>
            <a:ext cx="11511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centroïde</a:t>
            </a:r>
            <a:endParaRPr lang="fr-FR" noProof="0" dirty="0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22ACE0D1-9533-AE17-6991-B478A1BC2800}"/>
              </a:ext>
            </a:extLst>
          </p:cNvPr>
          <p:cNvSpPr txBox="1"/>
          <p:nvPr/>
        </p:nvSpPr>
        <p:spPr>
          <a:xfrm>
            <a:off x="9561976" y="4341095"/>
            <a:ext cx="6858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cellule</a:t>
            </a:r>
            <a:endParaRPr lang="fr-FR" sz="1400" noProof="0" dirty="0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3B88CB2-57E9-87EB-5D7A-0CC9F489416F}"/>
              </a:ext>
            </a:extLst>
          </p:cNvPr>
          <p:cNvSpPr txBox="1"/>
          <p:nvPr/>
        </p:nvSpPr>
        <p:spPr>
          <a:xfrm>
            <a:off x="7583316" y="4333475"/>
            <a:ext cx="660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drone</a:t>
            </a:r>
            <a:endParaRPr lang="fr-FR" sz="1400" noProof="0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3C6F39CD-0DE5-0C4C-678B-09F29CAF4A28}"/>
              </a:ext>
            </a:extLst>
          </p:cNvPr>
          <p:cNvSpPr txBox="1"/>
          <p:nvPr/>
        </p:nvSpPr>
        <p:spPr>
          <a:xfrm>
            <a:off x="5830969" y="401546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1.                                      2.                                    3.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715B96-E10F-30D4-84D3-E0E16911E0CD}"/>
              </a:ext>
            </a:extLst>
          </p:cNvPr>
          <p:cNvSpPr txBox="1"/>
          <p:nvPr/>
        </p:nvSpPr>
        <p:spPr>
          <a:xfrm>
            <a:off x="5959252" y="6445198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sz="1800" b="1" noProof="0" dirty="0">
                <a:latin typeface="Calibri"/>
                <a:ea typeface="Calibri"/>
                <a:cs typeface="Calibri"/>
              </a:rPr>
              <a:t>18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C05448-F900-71A6-65C0-AEA7C4D644C6}"/>
              </a:ext>
            </a:extLst>
          </p:cNvPr>
          <p:cNvSpPr txBox="1"/>
          <p:nvPr/>
        </p:nvSpPr>
        <p:spPr>
          <a:xfrm>
            <a:off x="0" y="0"/>
            <a:ext cx="90729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5FCBEF">
                    <a:lumMod val="75000"/>
                  </a:srgb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Étape 1 - Configuration du réseau multi-UAV  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359685" y="609862"/>
            <a:ext cx="3614987" cy="576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3200" b="1" noProof="0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Approche 2: CNN</a:t>
            </a:r>
            <a:endParaRPr lang="fr-FR" sz="3200" noProof="0" dirty="0">
              <a:solidFill>
                <a:srgbClr val="C0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865815" y="3474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FR" sz="950" noProof="0" dirty="0"/>
          </a:p>
        </p:txBody>
      </p:sp>
      <p:sp>
        <p:nvSpPr>
          <p:cNvPr id="6" name="Text 4"/>
          <p:cNvSpPr/>
          <p:nvPr/>
        </p:nvSpPr>
        <p:spPr>
          <a:xfrm>
            <a:off x="217436" y="1600200"/>
            <a:ext cx="5669280" cy="4647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fr-FR" sz="2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CNN analyse l'état global de l'environnement (image multi-canaux)</a:t>
            </a:r>
            <a:endParaRPr lang="fr-FR" sz="2400" b="1" noProof="0" dirty="0"/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fr-FR" sz="2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d'optimisation itérative géométrique → calcul plus rapide</a:t>
            </a:r>
            <a:endParaRPr lang="fr-FR" sz="2400" b="1" noProof="0" dirty="0"/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fr-FR" sz="2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à partir d'une carte de densité des cibles</a:t>
            </a:r>
            <a:endParaRPr lang="fr-FR" sz="2400" b="1" noProof="0" dirty="0"/>
          </a:p>
          <a:p>
            <a:pPr marL="342900" indent="-342900" algn="just">
              <a:lnSpc>
                <a:spcPct val="150000"/>
              </a:lnSpc>
              <a:spcAft>
                <a:spcPts val="1200"/>
              </a:spcAft>
              <a:buSzPct val="100000"/>
              <a:buFont typeface="Wingdings" panose="05000000000000000000" pitchFamily="2" charset="2"/>
              <a:buChar char="Ø"/>
            </a:pPr>
            <a:r>
              <a:rPr lang="fr-FR" sz="2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Actor-</a:t>
            </a:r>
            <a:r>
              <a:rPr lang="fr-FR" sz="2400" b="1" noProof="0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r>
              <a:rPr lang="fr-FR" sz="2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la décision</a:t>
            </a:r>
            <a:endParaRPr lang="fr-FR" sz="2400" b="1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4617720"/>
            <a:ext cx="4937760" cy="894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fr-FR" sz="1400" b="1" noProof="0" dirty="0"/>
          </a:p>
        </p:txBody>
      </p:sp>
      <p:sp>
        <p:nvSpPr>
          <p:cNvPr id="10" name="Shape 8"/>
          <p:cNvSpPr/>
          <p:nvPr/>
        </p:nvSpPr>
        <p:spPr>
          <a:xfrm>
            <a:off x="6263640" y="1567180"/>
            <a:ext cx="5349240" cy="4123944"/>
          </a:xfrm>
          <a:prstGeom prst="roundRect">
            <a:avLst>
              <a:gd name="adj" fmla="val 156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6263640" y="1737360"/>
            <a:ext cx="5349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4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simplifié</a:t>
            </a:r>
            <a:endParaRPr lang="fr-FR" sz="2400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03670" y="2468880"/>
            <a:ext cx="1463040" cy="1005840"/>
          </a:xfrm>
          <a:prstGeom prst="roundRect">
            <a:avLst>
              <a:gd name="adj" fmla="val 7273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6549390" y="246888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 densité</a:t>
            </a:r>
            <a:endParaRPr lang="fr-FR" sz="2000" b="1" noProof="0" dirty="0"/>
          </a:p>
          <a:p>
            <a:pPr marL="0" indent="0" algn="ctr">
              <a:buNone/>
            </a:pPr>
            <a:r>
              <a:rPr lang="fr-FR" sz="20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cibles</a:t>
            </a:r>
            <a:endParaRPr lang="fr-FR" sz="2000" b="1" noProof="0" dirty="0"/>
          </a:p>
        </p:txBody>
      </p:sp>
      <p:sp>
        <p:nvSpPr>
          <p:cNvPr id="14" name="Shape 12"/>
          <p:cNvSpPr/>
          <p:nvPr/>
        </p:nvSpPr>
        <p:spPr>
          <a:xfrm>
            <a:off x="7966710" y="2971800"/>
            <a:ext cx="240030" cy="0"/>
          </a:xfrm>
          <a:prstGeom prst="line">
            <a:avLst/>
          </a:prstGeom>
          <a:noFill/>
          <a:ln w="25400">
            <a:solidFill>
              <a:srgbClr val="5FD0CF"/>
            </a:solidFill>
            <a:prstDash val="solid"/>
            <a:tailEnd type="triangle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8206740" y="2468880"/>
            <a:ext cx="1463040" cy="1005840"/>
          </a:xfrm>
          <a:prstGeom prst="roundRect">
            <a:avLst>
              <a:gd name="adj" fmla="val 7273"/>
            </a:avLst>
          </a:prstGeom>
          <a:solidFill>
            <a:schemeClr val="bg1">
              <a:lumMod val="85000"/>
            </a:scheme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8252460" y="2468880"/>
            <a:ext cx="1371600" cy="10058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CNN</a:t>
            </a:r>
            <a:endParaRPr lang="fr-FR" sz="20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endParaRPr lang="fr-FR" sz="20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669780" y="2971800"/>
            <a:ext cx="240030" cy="0"/>
          </a:xfrm>
          <a:prstGeom prst="line">
            <a:avLst/>
          </a:prstGeom>
          <a:noFill/>
          <a:ln w="25400">
            <a:solidFill>
              <a:srgbClr val="5FD0CF"/>
            </a:solidFill>
            <a:prstDash val="solid"/>
            <a:tailEnd type="triangle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6"/>
          <p:cNvSpPr/>
          <p:nvPr/>
        </p:nvSpPr>
        <p:spPr>
          <a:xfrm>
            <a:off x="9909810" y="2468880"/>
            <a:ext cx="1463040" cy="1005840"/>
          </a:xfrm>
          <a:prstGeom prst="roundRect">
            <a:avLst>
              <a:gd name="adj" fmla="val 7273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9" name="Text 17"/>
          <p:cNvSpPr/>
          <p:nvPr/>
        </p:nvSpPr>
        <p:spPr>
          <a:xfrm>
            <a:off x="9955530" y="2468880"/>
            <a:ext cx="1371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prédites</a:t>
            </a:r>
            <a:endParaRPr lang="fr-FR" sz="2000" b="1" noProof="0" dirty="0"/>
          </a:p>
          <a:p>
            <a:pPr marL="0" indent="0" algn="ctr">
              <a:buNone/>
            </a:pPr>
            <a:r>
              <a:rPr lang="fr-FR" sz="20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drones</a:t>
            </a:r>
            <a:endParaRPr lang="fr-FR" sz="2000" b="1" noProof="0" dirty="0"/>
          </a:p>
        </p:txBody>
      </p:sp>
      <p:sp>
        <p:nvSpPr>
          <p:cNvPr id="20" name="Text 18"/>
          <p:cNvSpPr/>
          <p:nvPr/>
        </p:nvSpPr>
        <p:spPr>
          <a:xfrm>
            <a:off x="6537960" y="3767329"/>
            <a:ext cx="4800600" cy="8503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(</a:t>
            </a:r>
            <a:r>
              <a:rPr lang="fr-FR" sz="2000" b="1" i="1" noProof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CentroidCNN</a:t>
            </a:r>
            <a:r>
              <a:rPr lang="fr-FR" sz="2000" b="1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prédit les centroïdes</a:t>
            </a:r>
            <a:endParaRPr lang="fr-FR" sz="20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 algn="ctr">
              <a:buNone/>
            </a:pPr>
            <a:r>
              <a:rPr lang="fr-FR" sz="2000" b="1" i="1" noProof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r>
              <a:rPr lang="fr-FR" sz="2000" b="1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fr-FR" sz="2000" b="1" i="1" noProof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CoverageCNN</a:t>
            </a:r>
            <a:r>
              <a:rPr lang="fr-FR" sz="2000" b="1" i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estime le taux de couverture</a:t>
            </a:r>
            <a:endParaRPr lang="fr-FR" sz="20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Text 19"/>
          <p:cNvSpPr/>
          <p:nvPr/>
        </p:nvSpPr>
        <p:spPr>
          <a:xfrm>
            <a:off x="6537960" y="4782310"/>
            <a:ext cx="4800600" cy="52121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FR" sz="14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18AAC3D-B1F3-BBC0-EFE2-CED6DA8E3086}"/>
              </a:ext>
            </a:extLst>
          </p:cNvPr>
          <p:cNvSpPr txBox="1"/>
          <p:nvPr/>
        </p:nvSpPr>
        <p:spPr>
          <a:xfrm>
            <a:off x="5886716" y="6325862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sz="1800" b="1" noProof="0" dirty="0">
                <a:latin typeface="Calibri"/>
                <a:ea typeface="Calibri"/>
                <a:cs typeface="Calibri"/>
              </a:rPr>
              <a:t>19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>
              <a:latin typeface="Calibri"/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645067E-CC74-79CC-4A14-BE91ACF54D57}"/>
              </a:ext>
            </a:extLst>
          </p:cNvPr>
          <p:cNvSpPr txBox="1"/>
          <p:nvPr/>
        </p:nvSpPr>
        <p:spPr>
          <a:xfrm>
            <a:off x="0" y="-10633"/>
            <a:ext cx="907297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fr-FR" sz="3200" b="1" i="0" u="none" strike="noStrike" kern="1200" cap="none" spc="0" normalizeH="0" baseline="0" noProof="0" dirty="0">
                <a:ln>
                  <a:noFill/>
                </a:ln>
                <a:solidFill>
                  <a:srgbClr val="5FCBEF">
                    <a:lumMod val="75000"/>
                  </a:srgbClr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+mn-cs"/>
              </a:rPr>
              <a:t>Étape 1 - Configuration du réseau multi-UAV   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14:flythrough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6482355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Comparaison Lloyd vs CNN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5349240" cy="4434840"/>
          </a:xfrm>
          <a:prstGeom prst="roundRect">
            <a:avLst>
              <a:gd name="adj" fmla="val 1649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i="1" noProof="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1 — Algorithme de Lloyd</a:t>
            </a:r>
            <a:endParaRPr lang="fr-FR" sz="2000" i="1" noProof="0" dirty="0">
              <a:solidFill>
                <a:srgbClr val="0070C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868680" y="2250440"/>
            <a:ext cx="4800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spcAft>
                <a:spcPts val="1200"/>
              </a:spcAft>
              <a:buSzPct val="100000"/>
              <a:buChar char="▪"/>
            </a:pPr>
            <a:r>
              <a:rPr lang="fr-FR" sz="20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 </a:t>
            </a:r>
            <a:r>
              <a:rPr lang="fr-FR" sz="2000" b="1" noProof="0" dirty="0" err="1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Voronoï</a:t>
            </a:r>
            <a:r>
              <a:rPr lang="fr-FR" sz="20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chaque itération</a:t>
            </a:r>
            <a:endParaRPr lang="fr-FR" sz="2000" b="1" noProof="0" dirty="0"/>
          </a:p>
          <a:p>
            <a:pPr marL="228600" indent="-228600" algn="just">
              <a:spcAft>
                <a:spcPts val="1200"/>
              </a:spcAft>
              <a:buSzPct val="100000"/>
              <a:buChar char="▪"/>
            </a:pPr>
            <a:r>
              <a:rPr lang="fr-FR" sz="20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Centroïde calculé à partir des cibles dans le rayon R</a:t>
            </a:r>
            <a:endParaRPr lang="fr-FR" sz="2000" b="1" noProof="0" dirty="0"/>
          </a:p>
          <a:p>
            <a:pPr marL="228600" indent="-228600" algn="just">
              <a:spcAft>
                <a:spcPts val="1200"/>
              </a:spcAft>
              <a:buSzPct val="100000"/>
              <a:buChar char="▪"/>
            </a:pPr>
            <a:r>
              <a:rPr lang="fr-FR" sz="20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Déplacement progressif vers le centroïde</a:t>
            </a:r>
            <a:endParaRPr lang="fr-FR" sz="2000" b="1" noProof="0" dirty="0"/>
          </a:p>
          <a:p>
            <a:pPr marL="228600" indent="-228600" algn="just">
              <a:spcAft>
                <a:spcPts val="1200"/>
              </a:spcAft>
              <a:buSzPct val="100000"/>
              <a:buChar char="▪"/>
            </a:pPr>
            <a:r>
              <a:rPr lang="fr-FR" sz="20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d'un drone si coût &gt; seuil après convergence</a:t>
            </a:r>
            <a:endParaRPr lang="fr-FR" sz="2000" b="1" noProof="0" dirty="0"/>
          </a:p>
        </p:txBody>
      </p:sp>
      <p:sp>
        <p:nvSpPr>
          <p:cNvPr id="9" name="Shape 7"/>
          <p:cNvSpPr/>
          <p:nvPr/>
        </p:nvSpPr>
        <p:spPr>
          <a:xfrm>
            <a:off x="868680" y="4609070"/>
            <a:ext cx="4709160" cy="1243090"/>
          </a:xfrm>
          <a:prstGeom prst="roundRect">
            <a:avLst>
              <a:gd name="adj" fmla="val 4324"/>
            </a:avLst>
          </a:prstGeom>
          <a:solidFill>
            <a:schemeClr val="accent2">
              <a:lumMod val="60000"/>
              <a:lumOff val="40000"/>
            </a:scheme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1051560" y="429768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i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Décision géométrique locale,</a:t>
            </a:r>
            <a:endParaRPr lang="fr-FR" sz="2000" b="1" noProof="0" dirty="0"/>
          </a:p>
          <a:p>
            <a:pPr marL="0" indent="0" algn="ctr">
              <a:buNone/>
            </a:pPr>
            <a:r>
              <a:rPr lang="fr-FR" sz="2000" b="1" i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basée sur les centroïdes des cellules</a:t>
            </a:r>
            <a:endParaRPr lang="fr-FR" sz="2000" b="1" noProof="0" dirty="0"/>
          </a:p>
        </p:txBody>
      </p:sp>
      <p:sp>
        <p:nvSpPr>
          <p:cNvPr id="11" name="Shape 9"/>
          <p:cNvSpPr/>
          <p:nvPr/>
        </p:nvSpPr>
        <p:spPr>
          <a:xfrm>
            <a:off x="6263640" y="1600200"/>
            <a:ext cx="5349240" cy="4434840"/>
          </a:xfrm>
          <a:prstGeom prst="roundRect">
            <a:avLst>
              <a:gd name="adj" fmla="val 1649"/>
            </a:avLst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6492240" y="1737360"/>
            <a:ext cx="4892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i="1" noProof="0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Approche 2 — Réseau CNN</a:t>
            </a:r>
            <a:endParaRPr lang="fr-FR" sz="2000" i="1" noProof="0" dirty="0">
              <a:solidFill>
                <a:srgbClr val="0070C0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6583680" y="2240280"/>
            <a:ext cx="48920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3 canaux : cibles pondérées, drones, zones couvertes</a:t>
            </a:r>
            <a:endParaRPr lang="fr-FR" sz="20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de priorité (attention spatiale)</a:t>
            </a:r>
            <a:endParaRPr lang="fr-FR" sz="20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 (</a:t>
            </a:r>
            <a:r>
              <a:rPr lang="fr-FR" sz="2000" b="1" noProof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CentroidCNN</a:t>
            </a: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prédit les centroïdes</a:t>
            </a:r>
            <a:endParaRPr lang="fr-FR" sz="20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fr-FR" sz="2000" b="1" noProof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</a:t>
            </a: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fr-FR" sz="2000" b="1" noProof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CoverageCNN</a:t>
            </a:r>
            <a:r>
              <a:rPr lang="fr-FR" sz="2000" b="1" noProof="0" dirty="0">
                <a:solidFill>
                  <a:schemeClr val="tx1">
                    <a:lumMod val="75000"/>
                    <a:lumOff val="2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→ estime le taux de couverture</a:t>
            </a:r>
            <a:endParaRPr lang="fr-FR" sz="2000" b="1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83680" y="4160520"/>
            <a:ext cx="4709160" cy="1691640"/>
          </a:xfrm>
          <a:prstGeom prst="roundRect">
            <a:avLst>
              <a:gd name="adj" fmla="val 4324"/>
            </a:avLst>
          </a:prstGeom>
          <a:solidFill>
            <a:schemeClr val="accent2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6766560" y="4297680"/>
            <a:ext cx="4434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i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Décision globale apprise,</a:t>
            </a:r>
            <a:endParaRPr lang="fr-FR" sz="2000" b="1" noProof="0" dirty="0"/>
          </a:p>
          <a:p>
            <a:pPr marL="0" indent="0" algn="ctr">
              <a:buNone/>
            </a:pPr>
            <a:r>
              <a:rPr lang="fr-FR" sz="2000" b="1" i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guidée par l'attention spatiale</a:t>
            </a:r>
            <a:endParaRPr lang="fr-FR" sz="2000" b="1" noProof="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8C3EEA1-D5F7-4EE6-FE90-A61CB445519A}"/>
              </a:ext>
            </a:extLst>
          </p:cNvPr>
          <p:cNvSpPr txBox="1"/>
          <p:nvPr/>
        </p:nvSpPr>
        <p:spPr>
          <a:xfrm>
            <a:off x="5978156" y="6378940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20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37921" y="155602"/>
            <a:ext cx="5257357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3200" b="1" noProof="0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 2 : Visite des cibles</a:t>
            </a:r>
            <a:endParaRPr lang="fr-FR" sz="3200" noProof="0" dirty="0">
              <a:solidFill>
                <a:srgbClr val="00B0F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304799" y="1273302"/>
            <a:ext cx="5943295" cy="4710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Après le déploiement, chaque drone doit visiter les cibles qui lui sont attribuées.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Trois méthodes ont été étudiées :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b="1" noProof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Critère P/D (Poids / Distance).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b="1" noProof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PDP (</a:t>
            </a:r>
            <a:r>
              <a:rPr lang="fr-FR" sz="2400" b="1" noProof="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Priority</a:t>
            </a:r>
            <a:r>
              <a:rPr lang="fr-FR" sz="2400" b="1" noProof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Driven </a:t>
            </a:r>
            <a:r>
              <a:rPr lang="fr-FR" sz="2400" b="1" noProof="0" dirty="0" err="1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Patrolling</a:t>
            </a:r>
            <a:r>
              <a:rPr lang="fr-FR" sz="2400" b="1" noProof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fr-FR" sz="2400" b="1" noProof="0" dirty="0">
                <a:solidFill>
                  <a:srgbClr val="C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PVE (Potentiel de Visite Elastique).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fr-FR" b="1" noProof="0" dirty="0">
              <a:solidFill>
                <a:srgbClr val="13294B"/>
              </a:solidFill>
              <a:latin typeface="Calibri" panose="020F0502020204030204" pitchFamily="34" charset="0"/>
              <a:ea typeface="Calibri" pitchFamily="34" charset="-122"/>
              <a:cs typeface="Calibri" panose="020F0502020204030204" pitchFamily="34" charset="0"/>
            </a:endParaRPr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r>
              <a:rPr lang="fr-FR" sz="2400" b="1" dirty="0">
                <a:latin typeface="Calibri" panose="020F0502020204030204" pitchFamily="34" charset="0"/>
                <a:cs typeface="Calibri" panose="020F0502020204030204" pitchFamily="34" charset="0"/>
              </a:rPr>
              <a:t>pour simuler des conditions réalistes, 20 nouvelles cibles sont ajoutées aléatoire en cours de mission chaque 10 frames.</a:t>
            </a:r>
          </a:p>
          <a:p>
            <a:pPr marL="342900" indent="-342900">
              <a:spcAft>
                <a:spcPts val="1200"/>
              </a:spcAft>
              <a:buSzPct val="100000"/>
              <a:buFont typeface="Wingdings" panose="05000000000000000000" pitchFamily="2" charset="2"/>
              <a:buChar char="ü"/>
            </a:pPr>
            <a:endParaRPr lang="fr-FR" sz="24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Aft>
                <a:spcPts val="1200"/>
              </a:spcAft>
              <a:buSzPct val="100000"/>
            </a:pPr>
            <a:r>
              <a:rPr lang="fr-FR" b="1" noProof="0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   </a:t>
            </a:r>
            <a:endParaRPr lang="fr-FR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00800" y="1554480"/>
            <a:ext cx="5212080" cy="4297680"/>
          </a:xfrm>
          <a:prstGeom prst="roundRect">
            <a:avLst>
              <a:gd name="adj" fmla="val 1702"/>
            </a:avLst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0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Niveaux de priorité des cibles</a:t>
            </a:r>
            <a:endParaRPr lang="fr-FR" sz="2000" noProof="0" dirty="0"/>
          </a:p>
        </p:txBody>
      </p:sp>
      <p:sp>
        <p:nvSpPr>
          <p:cNvPr id="9" name="Shape 7"/>
          <p:cNvSpPr/>
          <p:nvPr/>
        </p:nvSpPr>
        <p:spPr>
          <a:xfrm>
            <a:off x="6858000" y="2377440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685800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</a:t>
            </a:r>
            <a:endParaRPr lang="fr-FR" sz="1300" noProof="0" dirty="0"/>
          </a:p>
        </p:txBody>
      </p:sp>
      <p:sp>
        <p:nvSpPr>
          <p:cNvPr id="11" name="Text 9"/>
          <p:cNvSpPr/>
          <p:nvPr/>
        </p:nvSpPr>
        <p:spPr>
          <a:xfrm>
            <a:off x="7406640" y="23774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haute — poids 3</a:t>
            </a:r>
            <a:endParaRPr lang="fr-FR" sz="2400" b="1" noProof="0" dirty="0"/>
          </a:p>
        </p:txBody>
      </p:sp>
      <p:sp>
        <p:nvSpPr>
          <p:cNvPr id="12" name="Shape 10"/>
          <p:cNvSpPr/>
          <p:nvPr/>
        </p:nvSpPr>
        <p:spPr>
          <a:xfrm>
            <a:off x="6858000" y="342900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/>
          <p:cNvSpPr/>
          <p:nvPr/>
        </p:nvSpPr>
        <p:spPr>
          <a:xfrm>
            <a:off x="6858000" y="34290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</a:t>
            </a:r>
            <a:endParaRPr lang="fr-FR" sz="1300" noProof="0" dirty="0"/>
          </a:p>
        </p:txBody>
      </p:sp>
      <p:sp>
        <p:nvSpPr>
          <p:cNvPr id="14" name="Text 12"/>
          <p:cNvSpPr/>
          <p:nvPr/>
        </p:nvSpPr>
        <p:spPr>
          <a:xfrm>
            <a:off x="7406640" y="34290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moyenne — poids 2</a:t>
            </a:r>
            <a:endParaRPr lang="fr-FR" sz="2400" b="1" noProof="0" dirty="0"/>
          </a:p>
        </p:txBody>
      </p:sp>
      <p:sp>
        <p:nvSpPr>
          <p:cNvPr id="15" name="Shape 13"/>
          <p:cNvSpPr/>
          <p:nvPr/>
        </p:nvSpPr>
        <p:spPr>
          <a:xfrm>
            <a:off x="6858000" y="4480560"/>
            <a:ext cx="365760" cy="365760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6858000" y="4480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×1</a:t>
            </a:r>
            <a:endParaRPr lang="fr-FR" sz="1300" noProof="0" dirty="0"/>
          </a:p>
        </p:txBody>
      </p:sp>
      <p:sp>
        <p:nvSpPr>
          <p:cNvPr id="17" name="Text 15"/>
          <p:cNvSpPr/>
          <p:nvPr/>
        </p:nvSpPr>
        <p:spPr>
          <a:xfrm>
            <a:off x="7406640" y="44805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Priorité basse — poids 1</a:t>
            </a:r>
            <a:endParaRPr lang="fr-FR" sz="2400" b="1" noProof="0" dirty="0"/>
          </a:p>
        </p:txBody>
      </p:sp>
      <p:sp>
        <p:nvSpPr>
          <p:cNvPr id="18" name="Text 16"/>
          <p:cNvSpPr/>
          <p:nvPr/>
        </p:nvSpPr>
        <p:spPr>
          <a:xfrm>
            <a:off x="7917543" y="5149516"/>
            <a:ext cx="3085432" cy="5197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b="1" i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: 33% / 33% / 34%</a:t>
            </a:r>
            <a:endParaRPr lang="fr-FR" b="1" noProof="0" dirty="0">
              <a:solidFill>
                <a:srgbClr val="0B1F3A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BDDADD4-3103-5E0C-0D06-6B8CC7E21A97}"/>
              </a:ext>
            </a:extLst>
          </p:cNvPr>
          <p:cNvSpPr txBox="1"/>
          <p:nvPr/>
        </p:nvSpPr>
        <p:spPr>
          <a:xfrm>
            <a:off x="5955296" y="6369243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fr-FR" b="1" noProof="0" dirty="0">
                <a:latin typeface="Calibri"/>
                <a:ea typeface="Calibri"/>
                <a:cs typeface="Calibri"/>
              </a:rPr>
              <a:t>21 / 37</a:t>
            </a:r>
            <a:endParaRPr lang="fr-FR" sz="1800" b="1" noProof="0" dirty="0">
              <a:latin typeface="Trebuchet MS"/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3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792" y="856854"/>
            <a:ext cx="11094415" cy="5457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 P/D — Score Poids / Distance</a:t>
            </a:r>
            <a:endParaRPr lang="fr-FR" sz="2800" noProof="0" dirty="0">
              <a:solidFill>
                <a:srgbClr val="C0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79119" y="1402588"/>
            <a:ext cx="8947939" cy="314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Char char="▪"/>
            </a:pPr>
            <a:r>
              <a:rPr lang="fr-FR" sz="2400" b="1" noProof="0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Méthode la plus simple : chaque cible reçoit un score basé sur son poids et sa distance au drone</a:t>
            </a: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Char char="▪"/>
            </a:pPr>
            <a:r>
              <a:rPr lang="fr-FR" sz="2400" b="1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Le score est calculé par la formule suivantes:</a:t>
            </a:r>
            <a:endParaRPr lang="fr-FR" sz="24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Char char="▪"/>
            </a:pPr>
            <a:r>
              <a:rPr lang="fr-FR" sz="2400" b="1" noProof="0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Le drone </a:t>
            </a:r>
            <a:r>
              <a:rPr lang="fr-FR" sz="2400" b="1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vise</a:t>
            </a:r>
            <a:r>
              <a:rPr lang="fr-FR" sz="2400" b="1" noProof="0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toujours  la cible au score le plus élevé.</a:t>
            </a:r>
            <a:endParaRPr lang="fr-FR" sz="24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Char char="▪"/>
            </a:pPr>
            <a:r>
              <a:rPr lang="fr-FR" sz="2400" b="1" dirty="0">
                <a:solidFill>
                  <a:srgbClr val="0B1F3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Cette méthode ne prend pas en compte le temps écoulé depuis la dernière visite.</a:t>
            </a:r>
            <a:endParaRPr lang="fr-FR" sz="2400" b="1" noProof="0" dirty="0">
              <a:solidFill>
                <a:srgbClr val="0B1F3A"/>
              </a:solidFill>
              <a:latin typeface="Calibri" panose="020F0502020204030204" pitchFamily="34" charset="0"/>
              <a:ea typeface="Calibri" pitchFamily="34" charset="-122"/>
              <a:cs typeface="Calibri" panose="020F0502020204030204" pitchFamily="34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Char char="▪"/>
            </a:pPr>
            <a:r>
              <a:rPr lang="fr-FR" sz="2400" b="1" noProof="0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Aucune garantie de revisite pendant le tour.</a:t>
            </a:r>
            <a:endParaRPr lang="fr-FR" sz="24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E465927-4FB3-8E16-70FB-7E8EAC931A81}"/>
              </a:ext>
            </a:extLst>
          </p:cNvPr>
          <p:cNvSpPr txBox="1"/>
          <p:nvPr/>
        </p:nvSpPr>
        <p:spPr>
          <a:xfrm>
            <a:off x="6885123" y="2824930"/>
            <a:ext cx="2517648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2400" b="1" i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Sⱼ = Wⱼ / Dᵢⱼ</a:t>
            </a:r>
            <a:endParaRPr lang="fr-FR" sz="2400" b="1" noProof="0" dirty="0">
              <a:solidFill>
                <a:srgbClr val="0B1F3A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7778B1-196C-CD2B-0FF6-AA41B37FB169}"/>
              </a:ext>
            </a:extLst>
          </p:cNvPr>
          <p:cNvSpPr txBox="1"/>
          <p:nvPr/>
        </p:nvSpPr>
        <p:spPr>
          <a:xfrm>
            <a:off x="5911702" y="6304953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22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>
              <a:latin typeface="Calibri"/>
              <a:ea typeface="Calibri"/>
              <a:cs typeface="Calibri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804D94F9-7A04-94A2-6EB9-24A34F197884}"/>
              </a:ext>
            </a:extLst>
          </p:cNvPr>
          <p:cNvSpPr/>
          <p:nvPr/>
        </p:nvSpPr>
        <p:spPr>
          <a:xfrm>
            <a:off x="0" y="33894"/>
            <a:ext cx="5257357" cy="5457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3200" b="1" noProof="0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 2 : Visite des cibles</a:t>
            </a:r>
            <a:endParaRPr lang="fr-FR" sz="3200" noProof="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08088" y="754976"/>
            <a:ext cx="11094415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 PDP — </a:t>
            </a:r>
            <a:r>
              <a:rPr lang="fr-FR" sz="2800" b="1" noProof="0" dirty="0" err="1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Priority</a:t>
            </a:r>
            <a:r>
              <a:rPr lang="fr-FR" sz="2800" b="1" noProof="0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-Driven </a:t>
            </a:r>
            <a:r>
              <a:rPr lang="fr-FR" sz="2800" b="1" noProof="0" dirty="0" err="1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Patrolling</a:t>
            </a:r>
            <a:endParaRPr lang="fr-FR" sz="2800" noProof="0" dirty="0">
              <a:solidFill>
                <a:srgbClr val="C0000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579120" y="1472665"/>
            <a:ext cx="9837626" cy="509681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685800" lvl="1" indent="-228600" algn="just">
              <a:lnSpc>
                <a:spcPct val="150000"/>
              </a:lnSpc>
              <a:spcAft>
                <a:spcPts val="1200"/>
              </a:spcAft>
              <a:buSzPct val="100000"/>
              <a:buChar char="▪"/>
            </a:pPr>
            <a:r>
              <a:rPr lang="fr-FR" sz="2400" b="1" noProof="0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Intègre trois facteurs : le poids de la cible, le temps écoulé et la distance.</a:t>
            </a:r>
            <a:endParaRPr lang="fr-FR" sz="24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 indent="-228600" algn="just">
              <a:lnSpc>
                <a:spcPct val="150000"/>
              </a:lnSpc>
              <a:spcAft>
                <a:spcPts val="1200"/>
              </a:spcAft>
              <a:buSzPct val="100000"/>
              <a:buFontTx/>
              <a:buChar char="▪"/>
            </a:pPr>
            <a:r>
              <a:rPr lang="fr-FR" sz="2400" b="1" dirty="0">
                <a:solidFill>
                  <a:srgbClr val="0B1F3A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une cible longtemps non visité voit son score augmenter donc elle redevient prioritaire.</a:t>
            </a:r>
          </a:p>
          <a:p>
            <a:pPr marL="685800" lvl="1" indent="-228600" algn="just">
              <a:lnSpc>
                <a:spcPct val="150000"/>
              </a:lnSpc>
              <a:spcAft>
                <a:spcPts val="1200"/>
              </a:spcAft>
              <a:buSzPct val="100000"/>
              <a:buFontTx/>
              <a:buChar char="▪"/>
            </a:pPr>
            <a:r>
              <a:rPr lang="fr-FR" sz="2400" b="1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Le score est calculé par la formule suivantes:</a:t>
            </a:r>
            <a:endParaRPr lang="fr-FR" sz="24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 indent="-228600" algn="just">
              <a:lnSpc>
                <a:spcPct val="150000"/>
              </a:lnSpc>
              <a:spcAft>
                <a:spcPts val="1200"/>
              </a:spcAft>
              <a:buSzPct val="100000"/>
              <a:buChar char="▪"/>
            </a:pPr>
            <a:r>
              <a:rPr lang="fr-FR" sz="2400" b="1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C’est la s</a:t>
            </a:r>
            <a:r>
              <a:rPr lang="fr-FR" sz="2400" b="1" noProof="0" dirty="0" err="1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eule</a:t>
            </a:r>
            <a:r>
              <a:rPr lang="fr-FR" sz="2400" b="1" noProof="0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méthode garantissant le nombre de visites requis par cible</a:t>
            </a:r>
            <a:r>
              <a:rPr lang="fr-FR" sz="2400" b="1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 </a:t>
            </a:r>
            <a:r>
              <a:rPr lang="fr-FR" sz="2400" b="1" noProof="0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selon sa priorité.</a:t>
            </a:r>
            <a:endParaRPr lang="fr-FR" sz="24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400800" y="17373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FR" sz="2000" noProof="0" dirty="0"/>
          </a:p>
        </p:txBody>
      </p:sp>
      <p:sp>
        <p:nvSpPr>
          <p:cNvPr id="18" name="Text 16"/>
          <p:cNvSpPr/>
          <p:nvPr/>
        </p:nvSpPr>
        <p:spPr>
          <a:xfrm>
            <a:off x="7917543" y="5303520"/>
            <a:ext cx="21785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FR" sz="1200" b="1" noProof="0" dirty="0">
              <a:solidFill>
                <a:srgbClr val="0B1F3A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54ECAA5-59F9-3EE9-98ED-1B446D466936}"/>
              </a:ext>
            </a:extLst>
          </p:cNvPr>
          <p:cNvSpPr txBox="1"/>
          <p:nvPr/>
        </p:nvSpPr>
        <p:spPr>
          <a:xfrm>
            <a:off x="7164280" y="4087475"/>
            <a:ext cx="3558606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2400" b="1" i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Sⱼ = Wⱼ · (tⱼ+1) · dᵢⱼ/d̄</a:t>
            </a:r>
            <a:endParaRPr lang="fr-FR" sz="2400" b="1" noProof="0" dirty="0">
              <a:solidFill>
                <a:srgbClr val="0B1F3A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CC6757-3196-0192-CE65-0F0ED39BDE31}"/>
              </a:ext>
            </a:extLst>
          </p:cNvPr>
          <p:cNvSpPr txBox="1"/>
          <p:nvPr/>
        </p:nvSpPr>
        <p:spPr>
          <a:xfrm>
            <a:off x="5955296" y="6340768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23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>
              <a:latin typeface="Calibri"/>
              <a:ea typeface="Calibri"/>
              <a:cs typeface="Calibri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3CF6449A-3FDB-6440-3D1E-16BCAC70357F}"/>
              </a:ext>
            </a:extLst>
          </p:cNvPr>
          <p:cNvSpPr/>
          <p:nvPr/>
        </p:nvSpPr>
        <p:spPr>
          <a:xfrm>
            <a:off x="0" y="33894"/>
            <a:ext cx="5257357" cy="5457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3200" b="1" noProof="0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 2 : Visite des cibles</a:t>
            </a:r>
            <a:endParaRPr lang="fr-FR" sz="3200" noProof="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C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Méthode PVE — Potentiel de Visite Élastique</a:t>
            </a:r>
            <a:endParaRPr lang="fr-FR" sz="2800" noProof="0" dirty="0">
              <a:solidFill>
                <a:srgbClr val="C00000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10865815" y="3474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FR" sz="950" noProof="0" dirty="0"/>
          </a:p>
        </p:txBody>
      </p:sp>
      <p:sp>
        <p:nvSpPr>
          <p:cNvPr id="6" name="Text 4"/>
          <p:cNvSpPr/>
          <p:nvPr/>
        </p:nvSpPr>
        <p:spPr>
          <a:xfrm>
            <a:off x="437398" y="1252639"/>
            <a:ext cx="9085425" cy="544255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Char char="▪"/>
            </a:pPr>
            <a:r>
              <a:rPr lang="fr-FR" sz="2400" b="1" noProof="0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Chaque cible génère un champ de potentiel gaussien attractif autour d'elle.</a:t>
            </a:r>
            <a:endParaRPr lang="fr-FR" sz="24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Char char="▪"/>
            </a:pPr>
            <a:r>
              <a:rPr lang="fr-FR" sz="2400" b="1" noProof="0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Le drone suit le gradient du champ combiné de toutes les cibles.</a:t>
            </a:r>
            <a:endParaRPr lang="fr-FR" sz="24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FontTx/>
              <a:buChar char="▪"/>
            </a:pPr>
            <a:r>
              <a:rPr lang="fr-FR" sz="2400" b="1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Le champ est calculé par la formule suivantes:</a:t>
            </a:r>
          </a:p>
          <a:p>
            <a:pPr marL="228600" indent="-228600" algn="just">
              <a:lnSpc>
                <a:spcPct val="150000"/>
              </a:lnSpc>
              <a:spcAft>
                <a:spcPts val="1200"/>
              </a:spcAft>
              <a:buSzPct val="100000"/>
              <a:buFontTx/>
              <a:buChar char="▪"/>
            </a:pPr>
            <a:r>
              <a:rPr lang="fr-FR" sz="2400" b="1" dirty="0">
                <a:solidFill>
                  <a:srgbClr val="13294B"/>
                </a:solidFill>
                <a:latin typeface="Calibri" panose="020F0502020204030204" pitchFamily="34" charset="0"/>
                <a:ea typeface="Calibri" pitchFamily="34" charset="-122"/>
                <a:cs typeface="Calibri" panose="020F0502020204030204" pitchFamily="34" charset="0"/>
              </a:rPr>
              <a:t>Cette méthode permet de couvrir plusieurs cibles proches en un seul passage.</a:t>
            </a:r>
          </a:p>
          <a:p>
            <a:pPr algn="just">
              <a:lnSpc>
                <a:spcPct val="150000"/>
              </a:lnSpc>
              <a:spcAft>
                <a:spcPts val="1200"/>
              </a:spcAft>
              <a:buSzPct val="100000"/>
            </a:pPr>
            <a:endParaRPr lang="fr-FR" sz="24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17543" y="5303520"/>
            <a:ext cx="21785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FR" sz="1200" b="1" noProof="0" dirty="0">
              <a:solidFill>
                <a:srgbClr val="0B1F3A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EFBE17-C1C7-D68A-5662-9E473BE4D60D}"/>
              </a:ext>
            </a:extLst>
          </p:cNvPr>
          <p:cNvSpPr txBox="1"/>
          <p:nvPr/>
        </p:nvSpPr>
        <p:spPr>
          <a:xfrm>
            <a:off x="6695805" y="3350043"/>
            <a:ext cx="5362579" cy="46166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fr-FR" sz="2400" b="1" i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P(x) = Σ Wᵢ·e^(−d²/2σ²)</a:t>
            </a:r>
            <a:endParaRPr lang="fr-FR" sz="2400" b="1" noProof="0" dirty="0">
              <a:solidFill>
                <a:srgbClr val="0B1F3A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BCA3656-F641-EDAE-D42B-5AF2025ABA57}"/>
              </a:ext>
            </a:extLst>
          </p:cNvPr>
          <p:cNvSpPr txBox="1"/>
          <p:nvPr/>
        </p:nvSpPr>
        <p:spPr>
          <a:xfrm>
            <a:off x="5955296" y="6325862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24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>
              <a:latin typeface="Calibri"/>
              <a:ea typeface="Calibri"/>
              <a:cs typeface="Calibri"/>
            </a:endParaRPr>
          </a:p>
        </p:txBody>
      </p:sp>
      <p:sp>
        <p:nvSpPr>
          <p:cNvPr id="2" name="Text 1">
            <a:extLst>
              <a:ext uri="{FF2B5EF4-FFF2-40B4-BE49-F238E27FC236}">
                <a16:creationId xmlns:a16="http://schemas.microsoft.com/office/drawing/2014/main" id="{C0C88039-0DB4-1243-1B7C-385912C77083}"/>
              </a:ext>
            </a:extLst>
          </p:cNvPr>
          <p:cNvSpPr/>
          <p:nvPr/>
        </p:nvSpPr>
        <p:spPr>
          <a:xfrm>
            <a:off x="0" y="33894"/>
            <a:ext cx="5257357" cy="5457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3200" b="1" noProof="0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 2 : Visite des cibles</a:t>
            </a:r>
            <a:endParaRPr lang="fr-FR" sz="3200" noProof="0" dirty="0">
              <a:solidFill>
                <a:srgbClr val="00B0F0"/>
              </a:solidFill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33231" y="310226"/>
            <a:ext cx="585216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fr-FR" sz="2800" b="1" noProof="0" dirty="0">
                <a:solidFill>
                  <a:srgbClr val="00B0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Étape 3 : Maintenance énergétique</a:t>
            </a:r>
            <a:endParaRPr lang="fr-FR" sz="2800" noProof="0" dirty="0">
              <a:solidFill>
                <a:srgbClr val="00B0F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222732" y="1069848"/>
            <a:ext cx="10094920" cy="1764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24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modèle énergétique a été intégré afin d'évaluer l'autonomie des drones.</a:t>
            </a:r>
            <a:endParaRPr lang="fr-FR" sz="24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fr-FR" sz="24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Lorsque le niveau de batterie devient critique :</a:t>
            </a:r>
            <a:endParaRPr lang="fr-FR" sz="24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 drone retourne automatiquement vers la station de base.</a:t>
            </a:r>
            <a:endParaRPr lang="fr-FR" sz="24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Une procédure de recharge est déclenchée.</a:t>
            </a:r>
            <a:endParaRPr lang="fr-FR" sz="24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mission est reprise après recharge.</a:t>
            </a:r>
            <a:endParaRPr lang="fr-FR" sz="24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b="1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Cette stratégie améliore la continuité du service.</a:t>
            </a:r>
            <a:endParaRPr lang="fr-FR" sz="2400" noProof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spcAft>
                <a:spcPts val="1200"/>
              </a:spcAft>
              <a:buSzPct val="100000"/>
              <a:buFont typeface="Arial" panose="020B0604020202020204" pitchFamily="34" charset="0"/>
              <a:buChar char="•"/>
            </a:pPr>
            <a:endParaRPr lang="fr-FR" sz="2400" b="1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12439" y="4702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fr-FR" sz="1250" noProof="0" dirty="0"/>
          </a:p>
        </p:txBody>
      </p:sp>
      <p:sp>
        <p:nvSpPr>
          <p:cNvPr id="10" name="Text 8"/>
          <p:cNvSpPr/>
          <p:nvPr/>
        </p:nvSpPr>
        <p:spPr>
          <a:xfrm>
            <a:off x="4013791" y="6039284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fr-FR" b="1" noProof="0" dirty="0">
              <a:solidFill>
                <a:srgbClr val="C00000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9294D8-0420-8C27-ED91-D22181CAE4A3}"/>
              </a:ext>
            </a:extLst>
          </p:cNvPr>
          <p:cNvSpPr txBox="1"/>
          <p:nvPr/>
        </p:nvSpPr>
        <p:spPr>
          <a:xfrm>
            <a:off x="5901128" y="6405044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25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ransition spd="slow">
    <p:wip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2FC74E-3E36-4E30-E807-E505B3071705}"/>
              </a:ext>
            </a:extLst>
          </p:cNvPr>
          <p:cNvSpPr txBox="1"/>
          <p:nvPr/>
        </p:nvSpPr>
        <p:spPr>
          <a:xfrm>
            <a:off x="2923829" y="58479"/>
            <a:ext cx="53461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Protocole de Simulation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DC4D69-3BFD-130B-239E-39AC78AF4A9A}"/>
              </a:ext>
            </a:extLst>
          </p:cNvPr>
          <p:cNvSpPr txBox="1"/>
          <p:nvPr/>
        </p:nvSpPr>
        <p:spPr>
          <a:xfrm>
            <a:off x="6371207" y="704810"/>
            <a:ext cx="49503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noProof="0" dirty="0">
                <a:solidFill>
                  <a:srgbClr val="00B0F0"/>
                </a:solidFill>
                <a:effectLst/>
                <a:latin typeface="+mj-lt"/>
                <a:cs typeface="Calibri" panose="020F0502020204030204" pitchFamily="34" charset="0"/>
              </a:rPr>
              <a:t>Paramètres de simulation </a:t>
            </a:r>
          </a:p>
          <a:p>
            <a:endParaRPr lang="fr-FR" sz="2400" b="1" noProof="0" dirty="0">
              <a:solidFill>
                <a:srgbClr val="00B0F0"/>
              </a:solidFill>
              <a:effectLst/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636695-370C-52BE-CCCA-566D0AFE53AE}"/>
              </a:ext>
            </a:extLst>
          </p:cNvPr>
          <p:cNvSpPr txBox="1"/>
          <p:nvPr/>
        </p:nvSpPr>
        <p:spPr>
          <a:xfrm>
            <a:off x="69750" y="942273"/>
            <a:ext cx="4795854" cy="44208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fr-FR" sz="2400" b="1" noProof="0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Hypothèses de modélisation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Flotte de drones homogène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Équipements identiques : mêmes capteurs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Couverture continue </a:t>
            </a:r>
          </a:p>
          <a:p>
            <a:pPr marL="742950" lvl="1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fr-FR" sz="2400" noProof="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Re-visite</a:t>
            </a:r>
            <a:r>
              <a:rPr lang="fr-FR" sz="2400" noProof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périodique des cibles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92D662-3058-C55E-68B6-B84448FFBCD8}"/>
              </a:ext>
            </a:extLst>
          </p:cNvPr>
          <p:cNvSpPr txBox="1"/>
          <p:nvPr/>
        </p:nvSpPr>
        <p:spPr>
          <a:xfrm>
            <a:off x="5943600" y="6430189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26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C7AA0BD9-3E78-952F-56CB-2D5742747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8652654"/>
              </p:ext>
            </p:extLst>
          </p:nvPr>
        </p:nvGraphicFramePr>
        <p:xfrm>
          <a:off x="5596910" y="1237010"/>
          <a:ext cx="6227968" cy="5193179"/>
        </p:xfrm>
        <a:graphic>
          <a:graphicData uri="http://schemas.openxmlformats.org/drawingml/2006/table">
            <a:tbl>
              <a:tblPr/>
              <a:tblGrid>
                <a:gridCol w="3113984">
                  <a:extLst>
                    <a:ext uri="{9D8B030D-6E8A-4147-A177-3AD203B41FA5}">
                      <a16:colId xmlns:a16="http://schemas.microsoft.com/office/drawing/2014/main" val="1402569387"/>
                    </a:ext>
                  </a:extLst>
                </a:gridCol>
                <a:gridCol w="3113984">
                  <a:extLst>
                    <a:ext uri="{9D8B030D-6E8A-4147-A177-3AD203B41FA5}">
                      <a16:colId xmlns:a16="http://schemas.microsoft.com/office/drawing/2014/main" val="880987595"/>
                    </a:ext>
                  </a:extLst>
                </a:gridCol>
              </a:tblGrid>
              <a:tr h="51885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Paramètres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Valeurs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7317949"/>
                  </a:ext>
                </a:extLst>
              </a:tr>
              <a:tr h="46242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Zone de simulation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(100m × 100m) (1000m× 1000m)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216522"/>
                  </a:ext>
                </a:extLst>
              </a:tr>
              <a:tr h="46242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Rayon de couverture R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20m, 30m, 200m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35002027"/>
                  </a:ext>
                </a:extLst>
              </a:tr>
              <a:tr h="46242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Nombre initial de drones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365646"/>
                  </a:ext>
                </a:extLst>
              </a:tr>
              <a:tr h="46242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Nombre de cibles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100, 200 cibles réparties aléatoirement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41006243"/>
                  </a:ext>
                </a:extLst>
              </a:tr>
              <a:tr h="48091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Pondération des cibles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33 % poids 3,  33 % poids 2,  34 % poids 1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058509"/>
                  </a:ext>
                </a:extLst>
              </a:tr>
              <a:tr h="46242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Énergie initiale de chaque drone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200 000 joules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446377"/>
                  </a:ext>
                </a:extLst>
              </a:tr>
              <a:tr h="46242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Puissance de capteur (</a:t>
                      </a:r>
                      <a:r>
                        <a:rPr lang="fr-FR" sz="1800" b="1" i="0" u="none" strike="noStrike" noProof="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Psense</a:t>
                      </a: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)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 W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3854901"/>
                  </a:ext>
                </a:extLst>
              </a:tr>
              <a:tr h="462421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Hauteur (H)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 m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4340625"/>
                  </a:ext>
                </a:extLst>
              </a:tr>
              <a:tr h="46844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Vitesse (v)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95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 m/s</a:t>
                      </a: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​</a:t>
                      </a:r>
                      <a:endParaRPr lang="fr-FR" sz="1800" b="1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1048" marR="81048" marT="40524" marB="40524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95727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4519778"/>
      </p:ext>
    </p:extLst>
  </p:cSld>
  <p:clrMapOvr>
    <a:masterClrMapping/>
  </p:clrMapOvr>
  <p:transition spd="slow">
    <p:comb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20CF019-AA03-118C-CF20-A20DB01D91D1}"/>
              </a:ext>
            </a:extLst>
          </p:cNvPr>
          <p:cNvSpPr txBox="1"/>
          <p:nvPr/>
        </p:nvSpPr>
        <p:spPr>
          <a:xfrm>
            <a:off x="635606" y="894757"/>
            <a:ext cx="9715214" cy="3359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i="0" noProof="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Permet de calculer l'énergie dépensée durant les déplacements, les visites des cibles et les communications.</a:t>
            </a:r>
            <a:endParaRPr lang="fr-FR" sz="2400" b="1" noProof="0" dirty="0">
              <a:effectLst/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i="0" noProof="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Cette métrique permet d'évaluer l'autonomie du système.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Un drone consomme de l'énergie quand il se déplace et quand il communique. </a:t>
            </a:r>
            <a:endParaRPr lang="fr-FR" sz="2400" b="1" i="0" noProof="0" dirty="0">
              <a:effectLst/>
              <a:latin typeface="Calibri" panose="020F0502020204030204" pitchFamily="34" charset="0"/>
              <a:ea typeface="Cambria" panose="02040503050406030204" pitchFamily="18" charset="0"/>
              <a:cs typeface="Calibri" panose="020F0502020204030204" pitchFamily="34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b="1" noProof="0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L'énergie consommée</a:t>
            </a:r>
            <a:r>
              <a:rPr lang="fr-FR" sz="2400" b="1" noProof="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par un drone est défini</a:t>
            </a:r>
            <a:r>
              <a:rPr lang="fr-FR" sz="2400" b="1" dirty="0"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e</a:t>
            </a:r>
            <a:r>
              <a:rPr lang="fr-FR" sz="2400" b="1" noProof="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 par: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38FDFA-F134-7F3E-FFC9-410C95554BCF}"/>
              </a:ext>
            </a:extLst>
          </p:cNvPr>
          <p:cNvSpPr txBox="1"/>
          <p:nvPr/>
        </p:nvSpPr>
        <p:spPr>
          <a:xfrm>
            <a:off x="468184" y="33225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i="0" noProof="0" dirty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</a:rPr>
              <a:t>Modelé énergétique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  <a:effectLst/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4F35168-40EE-300A-9DD2-28510CD770FE}"/>
              </a:ext>
            </a:extLst>
          </p:cNvPr>
          <p:cNvSpPr txBox="1"/>
          <p:nvPr/>
        </p:nvSpPr>
        <p:spPr>
          <a:xfrm>
            <a:off x="5953004" y="6391571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2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7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>
              <a:latin typeface="Calibri"/>
              <a:ea typeface="Calibri"/>
              <a:cs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412396AE-BAB0-DB1E-BCE1-FDACD95FF0BD}"/>
                  </a:ext>
                </a:extLst>
              </p:cNvPr>
              <p:cNvSpPr txBox="1"/>
              <p:nvPr/>
            </p:nvSpPr>
            <p:spPr>
              <a:xfrm>
                <a:off x="1007503" y="4480941"/>
                <a:ext cx="5679632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noProof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b="1" i="1" noProof="0">
                              <a:latin typeface="Cambria Math" panose="02040503050406030204" pitchFamily="18" charset="0"/>
                            </a:rPr>
                            <m:t>𝑫</m:t>
                          </m:r>
                          <m:acc>
                            <m:accPr>
                              <m:chr m:val="́"/>
                              <m:ctrlPr>
                                <a:rPr lang="fr-FR" b="1" i="1" noProof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fr-FR" b="1" i="1" noProof="0">
                                  <a:latin typeface="Cambria Math" panose="02040503050406030204" pitchFamily="18" charset="0"/>
                                </a:rPr>
                                <m:t>𝒆</m:t>
                              </m:r>
                            </m:e>
                          </m:acc>
                          <m:r>
                            <a:rPr lang="fr-FR" b="1" i="1" noProof="0">
                              <a:latin typeface="Cambria Math" panose="02040503050406030204" pitchFamily="18" charset="0"/>
                            </a:rPr>
                            <m:t>𝒑𝒍𝒂𝒄𝒆𝒎𝒆𝒏𝒕</m:t>
                          </m:r>
                          <m:r>
                            <a:rPr lang="fr-FR" b="1" i="1" noProof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b="1" i="1" noProof="0">
                              <a:latin typeface="Cambria Math" panose="02040503050406030204" pitchFamily="18" charset="0"/>
                            </a:rPr>
                            <m:t>𝒔𝒆𝒏𝒔𝒊𝒏𝒈</m:t>
                          </m:r>
                        </m:sub>
                      </m:sSub>
                      <m:r>
                        <a:rPr lang="fr-FR" b="1" i="1" noProof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fr-FR" b="1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fr-FR" b="1" i="1" noProof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1" i="1" noProof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fr-FR" b="1" i="1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1" i="1" noProof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sSup>
                                <m:sSupPr>
                                  <m:ctrlPr>
                                    <a:rPr lang="fr-FR" b="1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1" i="1" noProof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fr-FR" b="1" i="1" noProof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fr-FR" b="1" i="1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1" i="1" noProof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sSup>
                                <m:sSupPr>
                                  <m:ctrlPr>
                                    <a:rPr lang="fr-FR" b="1" i="1" noProof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1" i="1" noProof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fr-FR" b="1" i="1" noProof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  <m:r>
                                <a:rPr lang="fr-FR" b="1" i="1" noProof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1" i="1" noProof="0">
                                  <a:latin typeface="Cambria Math" panose="02040503050406030204" pitchFamily="18" charset="0"/>
                                </a:rPr>
                                <m:t>𝑷𝒔𝒆𝒏𝒔𝒆</m:t>
                              </m:r>
                            </m:e>
                          </m:d>
                          <m:r>
                            <a:rPr lang="fr-FR" b="1" i="0" noProof="0"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fr-FR" b="1" i="1" noProof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nary>
                    </m:oMath>
                  </m:oMathPara>
                </a14:m>
                <a:endParaRPr lang="fr-FR" b="1" noProof="0" dirty="0"/>
              </a:p>
            </p:txBody>
          </p:sp>
        </mc:Choice>
        <mc:Fallback xmlns="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412396AE-BAB0-DB1E-BCE1-FDACD95FF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503" y="4480941"/>
                <a:ext cx="5679632" cy="6707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9D70B70A-5DFA-28F6-E06D-A1C558E4FAAF}"/>
                  </a:ext>
                </a:extLst>
              </p:cNvPr>
              <p:cNvSpPr txBox="1"/>
              <p:nvPr/>
            </p:nvSpPr>
            <p:spPr>
              <a:xfrm>
                <a:off x="1007503" y="5040073"/>
                <a:ext cx="1880940" cy="67076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noProof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b="1" i="1" noProof="0">
                              <a:latin typeface="Cambria Math" panose="02040503050406030204" pitchFamily="18" charset="0"/>
                            </a:rPr>
                            <m:t>𝒄𝒐𝒎𝒎</m:t>
                          </m:r>
                        </m:sub>
                      </m:sSub>
                      <m:r>
                        <a:rPr lang="fr-FR" b="1" i="1" noProof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b="1" i="1" noProof="0">
                          <a:latin typeface="Cambria Math" panose="02040503050406030204" pitchFamily="18" charset="0"/>
                        </a:rPr>
                        <m:t>𝝀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fr-FR" b="1" i="1" noProof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fr-FR" b="1" i="1" noProof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1" i="1" noProof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fr-FR" b="1" i="1" noProof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fr-FR" b="1" noProof="0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9D70B70A-5DFA-28F6-E06D-A1C558E4F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7503" y="5040073"/>
                <a:ext cx="1880940" cy="67076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8B9EA9B5-0E8F-9611-D28D-AA85C029C6FC}"/>
                  </a:ext>
                </a:extLst>
              </p:cNvPr>
              <p:cNvSpPr txBox="1"/>
              <p:nvPr/>
            </p:nvSpPr>
            <p:spPr>
              <a:xfrm>
                <a:off x="2054337" y="5576941"/>
                <a:ext cx="4390626" cy="6707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fr-FR" b="1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fr-FR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b="1" i="1" noProof="0" smtClean="0">
                                  <a:latin typeface="Cambria Math" panose="02040503050406030204" pitchFamily="18" charset="0"/>
                                </a:rPr>
                                <m:t>𝒂</m:t>
                              </m:r>
                              <m:r>
                                <a:rPr lang="fr-FR" b="1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1" i="1" noProof="0" smtClean="0">
                                  <a:latin typeface="Cambria Math" panose="02040503050406030204" pitchFamily="18" charset="0"/>
                                </a:rPr>
                                <m:t>𝒃</m:t>
                              </m:r>
                              <m:sSup>
                                <m:sSupPr>
                                  <m:ctrlPr>
                                    <a:rPr lang="fr-FR" b="1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1" i="1" noProof="0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fr-FR" b="1" i="1" noProof="0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fr-FR" b="1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1" i="1" noProof="0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  <m:sSup>
                                <m:sSupPr>
                                  <m:ctrlPr>
                                    <a:rPr lang="fr-FR" b="1" i="1" noProof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fr-FR" b="1" i="1" noProof="0" smtClean="0">
                                      <a:latin typeface="Cambria Math" panose="02040503050406030204" pitchFamily="18" charset="0"/>
                                    </a:rPr>
                                    <m:t>𝒗</m:t>
                                  </m:r>
                                </m:e>
                                <m:sup>
                                  <m:r>
                                    <a:rPr lang="fr-FR" b="1" i="1" noProof="0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  <m:r>
                                <a:rPr lang="fr-FR" b="1" i="1" noProof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b="1" i="1" noProof="0" smtClean="0">
                                  <a:latin typeface="Cambria Math" panose="02040503050406030204" pitchFamily="18" charset="0"/>
                                </a:rPr>
                                <m:t>𝑷𝒔𝒆𝒏𝒔𝒆</m:t>
                              </m:r>
                            </m:e>
                          </m:d>
                          <m:r>
                            <a:rPr lang="fr-FR" b="1" i="0" noProof="0" smtClean="0">
                              <a:latin typeface="Cambria Math" panose="02040503050406030204" pitchFamily="18" charset="0"/>
                            </a:rPr>
                            <m:t>𝚫</m:t>
                          </m:r>
                          <m:r>
                            <a:rPr lang="fr-FR" b="1" i="1" noProof="0" smtClean="0"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nary>
                      <m:r>
                        <a:rPr lang="fr-FR" b="1" i="1" noProof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fr-FR" b="1" i="1" noProof="0" smtClean="0">
                          <a:latin typeface="Cambria Math" panose="02040503050406030204" pitchFamily="18" charset="0"/>
                        </a:rPr>
                        <m:t>𝝀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fr-FR" b="1" i="1" noProof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/>
                        <m:sup/>
                        <m:e>
                          <m:sSup>
                            <m:sSupPr>
                              <m:ctrlPr>
                                <a:rPr lang="fr-FR" b="1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fr-FR" b="1" i="1" noProof="0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fr-FR" b="1" i="1" noProof="0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fr-FR" b="1" noProof="0" dirty="0"/>
              </a:p>
            </p:txBody>
          </p:sp>
        </mc:Choice>
        <mc:Fallback xmlns="">
          <p:sp>
            <p:nvSpPr>
              <p:cNvPr id="10" name="ZoneTexte 9">
                <a:extLst>
                  <a:ext uri="{FF2B5EF4-FFF2-40B4-BE49-F238E27FC236}">
                    <a16:creationId xmlns:a16="http://schemas.microsoft.com/office/drawing/2014/main" id="{8B9EA9B5-0E8F-9611-D28D-AA85C029C6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4337" y="5576941"/>
                <a:ext cx="4390626" cy="67076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52162B43-CC61-1627-D64C-2FDC4A10D0FF}"/>
                  </a:ext>
                </a:extLst>
              </p:cNvPr>
              <p:cNvSpPr txBox="1"/>
              <p:nvPr/>
            </p:nvSpPr>
            <p:spPr>
              <a:xfrm>
                <a:off x="1054715" y="5710834"/>
                <a:ext cx="7574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noProof="0">
                              <a:latin typeface="Cambria Math" panose="02040503050406030204" pitchFamily="18" charset="0"/>
                            </a:rPr>
                            <m:t>𝑬</m:t>
                          </m:r>
                        </m:e>
                        <m:sub>
                          <m:r>
                            <a:rPr lang="fr-FR" b="1" i="1" noProof="0">
                              <a:latin typeface="Cambria Math" panose="02040503050406030204" pitchFamily="18" charset="0"/>
                            </a:rPr>
                            <m:t>𝑻𝒐𝒕𝒂𝒍𝒆</m:t>
                          </m:r>
                        </m:sub>
                      </m:sSub>
                    </m:oMath>
                  </m:oMathPara>
                </a14:m>
                <a:endParaRPr lang="fr-FR" b="1" noProof="0" dirty="0"/>
              </a:p>
            </p:txBody>
          </p:sp>
        </mc:Choice>
        <mc:Fallback xmlns="">
          <p:sp>
            <p:nvSpPr>
              <p:cNvPr id="17" name="ZoneTexte 16">
                <a:extLst>
                  <a:ext uri="{FF2B5EF4-FFF2-40B4-BE49-F238E27FC236}">
                    <a16:creationId xmlns:a16="http://schemas.microsoft.com/office/drawing/2014/main" id="{52162B43-CC61-1627-D64C-2FDC4A10D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715" y="5710834"/>
                <a:ext cx="757450" cy="276999"/>
              </a:xfrm>
              <a:prstGeom prst="rect">
                <a:avLst/>
              </a:prstGeom>
              <a:blipFill>
                <a:blip r:embed="rId6"/>
                <a:stretch>
                  <a:fillRect l="-5645" r="-3226" b="-2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ZoneTexte 17">
            <a:extLst>
              <a:ext uri="{FF2B5EF4-FFF2-40B4-BE49-F238E27FC236}">
                <a16:creationId xmlns:a16="http://schemas.microsoft.com/office/drawing/2014/main" id="{9D2B1484-BFCE-172A-F328-D234E799113F}"/>
              </a:ext>
            </a:extLst>
          </p:cNvPr>
          <p:cNvSpPr txBox="1"/>
          <p:nvPr/>
        </p:nvSpPr>
        <p:spPr>
          <a:xfrm>
            <a:off x="1731441" y="5664667"/>
            <a:ext cx="3228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noProof="0" dirty="0">
                <a:latin typeface="Cambria Math" panose="02040503050406030204" pitchFamily="18" charset="0"/>
                <a:ea typeface="Cambria Math" panose="02040503050406030204" pitchFamily="18" charset="0"/>
              </a:rPr>
              <a:t>=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7A473F64-FF93-AF92-BD62-128BD45B4F36}"/>
              </a:ext>
            </a:extLst>
          </p:cNvPr>
          <p:cNvSpPr txBox="1"/>
          <p:nvPr/>
        </p:nvSpPr>
        <p:spPr>
          <a:xfrm>
            <a:off x="6958361" y="5190787"/>
            <a:ext cx="29632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>
                <a:latin typeface="Cambria Math" panose="02040503050406030204" pitchFamily="18" charset="0"/>
                <a:ea typeface="Cambria Math" panose="02040503050406030204" pitchFamily="18" charset="0"/>
              </a:rPr>
              <a:t>Avec : a = 1, b = 0.3, c = 0.5 </a:t>
            </a:r>
          </a:p>
        </p:txBody>
      </p:sp>
    </p:spTree>
    <p:extLst>
      <p:ext uri="{BB962C8B-B14F-4D97-AF65-F5344CB8AC3E}">
        <p14:creationId xmlns:p14="http://schemas.microsoft.com/office/powerpoint/2010/main" val="3645769764"/>
      </p:ext>
    </p:extLst>
  </p:cSld>
  <p:clrMapOvr>
    <a:masterClrMapping/>
  </p:clrMapOvr>
  <p:transition spd="slow">
    <p:comb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4514954-4BEC-4909-8D85-66DECD6099E8}"/>
              </a:ext>
            </a:extLst>
          </p:cNvPr>
          <p:cNvSpPr txBox="1"/>
          <p:nvPr/>
        </p:nvSpPr>
        <p:spPr>
          <a:xfrm>
            <a:off x="1817370" y="650862"/>
            <a:ext cx="7786603" cy="238791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fr-FR" sz="3600" b="1" kern="1200" noProof="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Démonstration de la contribution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2CB1D2-8BF9-5485-EB11-33BC6FF6E054}"/>
              </a:ext>
            </a:extLst>
          </p:cNvPr>
          <p:cNvSpPr txBox="1"/>
          <p:nvPr/>
        </p:nvSpPr>
        <p:spPr>
          <a:xfrm>
            <a:off x="5975497" y="6317143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28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7444320"/>
      </p:ext>
    </p:extLst>
  </p:cSld>
  <p:clrMapOvr>
    <a:masterClrMapping/>
  </p:clrMapOvr>
  <p:transition spd="slow">
    <p:wheel spokes="1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141A8D-8F84-2165-99C0-F26973299E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780" y="1566515"/>
            <a:ext cx="4815255" cy="433283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F5852C-E895-9B1E-42B2-7B4E3EA26E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6903" y="1566514"/>
            <a:ext cx="4556354" cy="43328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67C6731-0724-1C9C-F101-9C53ED2D1839}"/>
              </a:ext>
            </a:extLst>
          </p:cNvPr>
          <p:cNvSpPr txBox="1"/>
          <p:nvPr/>
        </p:nvSpPr>
        <p:spPr>
          <a:xfrm>
            <a:off x="6096000" y="6431750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29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>
              <a:latin typeface="Calibri"/>
              <a:ea typeface="Calibri"/>
              <a:cs typeface="Calibri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E7037955-FB46-FBC7-1DDC-210144C834D3}"/>
              </a:ext>
            </a:extLst>
          </p:cNvPr>
          <p:cNvSpPr txBox="1"/>
          <p:nvPr/>
        </p:nvSpPr>
        <p:spPr>
          <a:xfrm>
            <a:off x="2988774" y="5899352"/>
            <a:ext cx="749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Lloyd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8C9AC72-2F95-E0E9-CD44-3A308B8215F4}"/>
              </a:ext>
            </a:extLst>
          </p:cNvPr>
          <p:cNvSpPr txBox="1"/>
          <p:nvPr/>
        </p:nvSpPr>
        <p:spPr>
          <a:xfrm>
            <a:off x="8125080" y="5907677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CNN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28F71E-CC8D-E1C3-3FC4-8611AFC12B77}"/>
              </a:ext>
            </a:extLst>
          </p:cNvPr>
          <p:cNvSpPr txBox="1"/>
          <p:nvPr/>
        </p:nvSpPr>
        <p:spPr>
          <a:xfrm>
            <a:off x="712955" y="611554"/>
            <a:ext cx="9184159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FR" sz="2400" noProof="0" dirty="0">
                <a:latin typeface="Calibri"/>
                <a:ea typeface="Calibri"/>
                <a:cs typeface="Calibri"/>
              </a:rPr>
              <a:t>Les figures suivantes illustrent les résultats du déploiement initial des drones dans un scénario à petite échelle.</a:t>
            </a:r>
            <a:endParaRPr lang="fr-FR" sz="2400" noProof="0" dirty="0">
              <a:solidFill>
                <a:schemeClr val="accent2">
                  <a:lumMod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ED0F713-3F84-66D7-151B-6117E6B4C00A}"/>
              </a:ext>
            </a:extLst>
          </p:cNvPr>
          <p:cNvSpPr txBox="1"/>
          <p:nvPr/>
        </p:nvSpPr>
        <p:spPr>
          <a:xfrm>
            <a:off x="486230" y="-3628"/>
            <a:ext cx="9318170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3600" b="1" i="0" u="none" strike="noStrike" baseline="0" noProof="0" dirty="0">
                <a:solidFill>
                  <a:srgbClr val="236292"/>
                </a:solidFill>
                <a:latin typeface="Cambria"/>
              </a:rPr>
              <a:t>Résultats de couverture à petite échelle</a:t>
            </a:r>
            <a:r>
              <a:rPr lang="fr-FR" sz="3600" b="0" i="0" noProof="0" dirty="0">
                <a:solidFill>
                  <a:srgbClr val="000000"/>
                </a:solidFill>
                <a:latin typeface="Cambria"/>
                <a:ea typeface="Cambria"/>
                <a:cs typeface="Cambria"/>
              </a:rPr>
              <a:t>​</a:t>
            </a:r>
            <a:endParaRPr lang="fr-FR" noProof="0" dirty="0"/>
          </a:p>
          <a:p>
            <a:pPr algn="ctr"/>
            <a:endParaRPr lang="fr-FR" noProof="0" dirty="0"/>
          </a:p>
        </p:txBody>
      </p:sp>
    </p:spTree>
    <p:extLst>
      <p:ext uri="{BB962C8B-B14F-4D97-AF65-F5344CB8AC3E}">
        <p14:creationId xmlns:p14="http://schemas.microsoft.com/office/powerpoint/2010/main" val="1121702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92B5377-6178-5DC8-FB02-5E7C011B13B1}"/>
              </a:ext>
            </a:extLst>
          </p:cNvPr>
          <p:cNvSpPr txBox="1"/>
          <p:nvPr/>
        </p:nvSpPr>
        <p:spPr>
          <a:xfrm>
            <a:off x="126400" y="4274697"/>
            <a:ext cx="9399341" cy="17989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2400" b="1" i="0" noProof="0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Les résultats </a:t>
            </a:r>
            <a:r>
              <a:rPr lang="fr-FR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de </a:t>
            </a:r>
            <a:r>
              <a:rPr lang="fr-FR" sz="2400" b="1" i="0" noProof="0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simulations montrent que</a:t>
            </a:r>
            <a:endParaRPr lang="fr-FR" sz="2400" noProof="0" dirty="0">
              <a:solidFill>
                <a:srgbClr val="00206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i="0" noProof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Les deux approches atteignent un niveau élevé de couverture.</a:t>
            </a:r>
            <a:endParaRPr lang="fr-FR" sz="2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i="0" noProof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 CNN obtient un taux de couverture supérieur.</a:t>
            </a:r>
            <a:endParaRPr lang="fr-FR" sz="2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000" i="0" noProof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 CNN utilise moins de drones pour atteindre un résultat comparable ou meilleur.</a:t>
            </a:r>
            <a:endParaRPr lang="fr-FR" sz="2000" noProof="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726633-2F79-9100-C1D9-0287BAF734AD}"/>
              </a:ext>
            </a:extLst>
          </p:cNvPr>
          <p:cNvSpPr txBox="1"/>
          <p:nvPr/>
        </p:nvSpPr>
        <p:spPr>
          <a:xfrm>
            <a:off x="6096000" y="6431750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/>
            <a:r>
              <a:rPr lang="fr-FR" b="1" noProof="0" dirty="0">
                <a:latin typeface="Calibri"/>
                <a:ea typeface="Calibri"/>
                <a:cs typeface="Calibri"/>
              </a:rPr>
              <a:t>30 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81D60E41-5DCE-5867-DE94-EEB7ECC698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013122"/>
              </p:ext>
            </p:extLst>
          </p:nvPr>
        </p:nvGraphicFramePr>
        <p:xfrm>
          <a:off x="1165087" y="1003529"/>
          <a:ext cx="7171508" cy="3130711"/>
        </p:xfrm>
        <a:graphic>
          <a:graphicData uri="http://schemas.openxmlformats.org/drawingml/2006/table">
            <a:tbl>
              <a:tblPr/>
              <a:tblGrid>
                <a:gridCol w="2437279">
                  <a:extLst>
                    <a:ext uri="{9D8B030D-6E8A-4147-A177-3AD203B41FA5}">
                      <a16:colId xmlns:a16="http://schemas.microsoft.com/office/drawing/2014/main" val="2402574335"/>
                    </a:ext>
                  </a:extLst>
                </a:gridCol>
                <a:gridCol w="2476300">
                  <a:extLst>
                    <a:ext uri="{9D8B030D-6E8A-4147-A177-3AD203B41FA5}">
                      <a16:colId xmlns:a16="http://schemas.microsoft.com/office/drawing/2014/main" val="723736714"/>
                    </a:ext>
                  </a:extLst>
                </a:gridCol>
                <a:gridCol w="2257929">
                  <a:extLst>
                    <a:ext uri="{9D8B030D-6E8A-4147-A177-3AD203B41FA5}">
                      <a16:colId xmlns:a16="http://schemas.microsoft.com/office/drawing/2014/main" val="2950054687"/>
                    </a:ext>
                  </a:extLst>
                </a:gridCol>
              </a:tblGrid>
              <a:tr h="56138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Métrique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Résultat final - Lloyd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Résultat final - CNN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6175467"/>
                  </a:ext>
                </a:extLst>
              </a:tr>
              <a:tr h="43440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Couverture Finale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94 % 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97.5 % 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633916"/>
                  </a:ext>
                </a:extLst>
              </a:tr>
              <a:tr h="43440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Variance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2.992 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2.000 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2924311"/>
                  </a:ext>
                </a:extLst>
              </a:tr>
              <a:tr h="434407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Coût Total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1.2329 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0.8151 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427104"/>
                  </a:ext>
                </a:extLst>
              </a:tr>
              <a:tr h="43285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 de drones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11 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10 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9788620"/>
                  </a:ext>
                </a:extLst>
              </a:tr>
              <a:tr h="72948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1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Frame de convergence</a:t>
                      </a: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94 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50000"/>
                        </a:lnSpc>
                        <a:buNone/>
                      </a:pPr>
                      <a:r>
                        <a:rPr lang="fr-FR" sz="18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176 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060169"/>
                  </a:ext>
                </a:extLst>
              </a:tr>
            </a:tbl>
          </a:graphicData>
        </a:graphic>
      </p:graphicFrame>
      <p:sp>
        <p:nvSpPr>
          <p:cNvPr id="3" name="ZoneTexte 1">
            <a:extLst>
              <a:ext uri="{FF2B5EF4-FFF2-40B4-BE49-F238E27FC236}">
                <a16:creationId xmlns:a16="http://schemas.microsoft.com/office/drawing/2014/main" id="{0E213704-5686-FD16-7057-DD76F6E98103}"/>
              </a:ext>
            </a:extLst>
          </p:cNvPr>
          <p:cNvSpPr txBox="1"/>
          <p:nvPr/>
        </p:nvSpPr>
        <p:spPr>
          <a:xfrm>
            <a:off x="1" y="-35511"/>
            <a:ext cx="9525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Résultats de comparaison du déploiement initial des drones dans un scénario à petite échelle</a:t>
            </a:r>
            <a:endParaRPr lang="fr-FR" sz="2400" b="1" noProof="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036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7E564C6-08F9-DDAB-D40E-A68F5D012FAD}"/>
              </a:ext>
            </a:extLst>
          </p:cNvPr>
          <p:cNvSpPr txBox="1"/>
          <p:nvPr/>
        </p:nvSpPr>
        <p:spPr>
          <a:xfrm>
            <a:off x="160638" y="144943"/>
            <a:ext cx="116400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Influence de la portée de détection R sur la couverture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0D9D6F-D7D2-4179-C91F-2B7AB1D54046}"/>
              </a:ext>
            </a:extLst>
          </p:cNvPr>
          <p:cNvSpPr txBox="1"/>
          <p:nvPr/>
        </p:nvSpPr>
        <p:spPr>
          <a:xfrm>
            <a:off x="460639" y="931041"/>
            <a:ext cx="10074875" cy="16948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noProof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L'augmentation de </a:t>
            </a:r>
            <a:r>
              <a:rPr lang="fr-FR" sz="2400" noProof="0" dirty="0">
                <a:latin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lang="fr-FR" sz="2400" noProof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portée de détection</a:t>
            </a:r>
            <a:r>
              <a:rPr lang="fr-FR" sz="24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400" noProof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R améliore directement les performances du système multi-UAV.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fr-FR" sz="2400" dirty="0"/>
              <a:t>Les simulations montrent que :</a:t>
            </a:r>
            <a:r>
              <a:rPr lang="fr-FR" sz="2400" noProof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8AECA4-0F13-34DB-E564-B4D095D0F538}"/>
              </a:ext>
            </a:extLst>
          </p:cNvPr>
          <p:cNvSpPr txBox="1"/>
          <p:nvPr/>
        </p:nvSpPr>
        <p:spPr>
          <a:xfrm>
            <a:off x="10972799" y="6343725"/>
            <a:ext cx="1105785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31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EB0FF1-90E8-A4C5-7673-4AF9882212AA}"/>
              </a:ext>
            </a:extLst>
          </p:cNvPr>
          <p:cNvSpPr txBox="1"/>
          <p:nvPr/>
        </p:nvSpPr>
        <p:spPr>
          <a:xfrm>
            <a:off x="1254035" y="2009392"/>
            <a:ext cx="11351621" cy="44670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Une portée plus </a:t>
            </a:r>
            <a:r>
              <a:rPr lang="fr-FR" sz="2400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grande</a:t>
            </a:r>
            <a:r>
              <a:rPr lang="fr-F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permet à chaque drone de couvrir une surface plus grande.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 taux de couverture augmente avec l'augmentation de R.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 nombre de drones nécessaires peut être réduit.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Les zones non couvertes se diminuent.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fr-FR" sz="24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Une augmentation de la portée améliore la qualité globale de la couverture collaborative, mais au-delà d'un certain seuil, le gain devient moins significatif.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​</a:t>
            </a:r>
          </a:p>
          <a:p>
            <a:pPr fontAlgn="base">
              <a:lnSpc>
                <a:spcPct val="150000"/>
              </a:lnSpc>
            </a:pPr>
            <a:endParaRPr lang="fr-FR" sz="2400" b="0" i="0" dirty="0">
              <a:solidFill>
                <a:srgbClr val="000000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7581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8845C1-063A-3966-5995-5B8D335240C5}"/>
              </a:ext>
            </a:extLst>
          </p:cNvPr>
          <p:cNvSpPr txBox="1"/>
          <p:nvPr/>
        </p:nvSpPr>
        <p:spPr>
          <a:xfrm>
            <a:off x="153614" y="192682"/>
            <a:ext cx="809719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Résultats lors du passage à l'échelle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DF80D4A-8116-42FB-4507-C5A32B7A6AD5}"/>
              </a:ext>
            </a:extLst>
          </p:cNvPr>
          <p:cNvSpPr txBox="1"/>
          <p:nvPr/>
        </p:nvSpPr>
        <p:spPr>
          <a:xfrm>
            <a:off x="5912047" y="6295986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32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>
              <a:latin typeface="Calibri"/>
              <a:ea typeface="Calibri"/>
              <a:cs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0730862-A72E-1902-2678-73F8169BA9D1}"/>
              </a:ext>
            </a:extLst>
          </p:cNvPr>
          <p:cNvSpPr txBox="1"/>
          <p:nvPr/>
        </p:nvSpPr>
        <p:spPr>
          <a:xfrm>
            <a:off x="2988774" y="5899352"/>
            <a:ext cx="7493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Lloyd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2392775-E2F4-9A90-EC62-FEAF3AD53EFD}"/>
              </a:ext>
            </a:extLst>
          </p:cNvPr>
          <p:cNvSpPr txBox="1"/>
          <p:nvPr/>
        </p:nvSpPr>
        <p:spPr>
          <a:xfrm>
            <a:off x="7796304" y="5895876"/>
            <a:ext cx="657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CNN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17E531-74FB-5CC4-29BE-5E9C14D95668}"/>
              </a:ext>
            </a:extLst>
          </p:cNvPr>
          <p:cNvSpPr txBox="1"/>
          <p:nvPr/>
        </p:nvSpPr>
        <p:spPr>
          <a:xfrm>
            <a:off x="515343" y="839013"/>
            <a:ext cx="9271207" cy="83099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FR" sz="2400" noProof="0" dirty="0">
                <a:latin typeface="Calibri"/>
                <a:ea typeface="Calibri"/>
                <a:cs typeface="Calibri"/>
              </a:rPr>
              <a:t>Les figures suivantes illustrent les résultats du déploiement initial des drones lors du passage à l’échelle.</a:t>
            </a:r>
            <a:endParaRPr lang="fr-FR" sz="2400" noProof="0" dirty="0">
              <a:solidFill>
                <a:schemeClr val="accent2">
                  <a:lumMod val="75000"/>
                </a:schemeClr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1620B50-489A-671C-7664-2472441557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540" y="1758499"/>
            <a:ext cx="4295673" cy="4052363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E4694155-DF1B-57F7-3D98-A634BDD5A5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5510" y="1670010"/>
            <a:ext cx="4295672" cy="4052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144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C90F16B9-C1F2-54BC-50E8-7D6D27CF90AB}"/>
              </a:ext>
            </a:extLst>
          </p:cNvPr>
          <p:cNvSpPr txBox="1"/>
          <p:nvPr/>
        </p:nvSpPr>
        <p:spPr>
          <a:xfrm>
            <a:off x="5905669" y="6354310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33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0975338E-7437-F763-AB45-93DA44D35B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525855"/>
              </p:ext>
            </p:extLst>
          </p:nvPr>
        </p:nvGraphicFramePr>
        <p:xfrm>
          <a:off x="818096" y="931793"/>
          <a:ext cx="7381462" cy="3358992"/>
        </p:xfrm>
        <a:graphic>
          <a:graphicData uri="http://schemas.openxmlformats.org/drawingml/2006/table">
            <a:tbl>
              <a:tblPr/>
              <a:tblGrid>
                <a:gridCol w="2157478">
                  <a:extLst>
                    <a:ext uri="{9D8B030D-6E8A-4147-A177-3AD203B41FA5}">
                      <a16:colId xmlns:a16="http://schemas.microsoft.com/office/drawing/2014/main" val="447520321"/>
                    </a:ext>
                  </a:extLst>
                </a:gridCol>
                <a:gridCol w="2702661">
                  <a:extLst>
                    <a:ext uri="{9D8B030D-6E8A-4147-A177-3AD203B41FA5}">
                      <a16:colId xmlns:a16="http://schemas.microsoft.com/office/drawing/2014/main" val="2600552984"/>
                    </a:ext>
                  </a:extLst>
                </a:gridCol>
                <a:gridCol w="2521323">
                  <a:extLst>
                    <a:ext uri="{9D8B030D-6E8A-4147-A177-3AD203B41FA5}">
                      <a16:colId xmlns:a16="http://schemas.microsoft.com/office/drawing/2014/main" val="2692174397"/>
                    </a:ext>
                  </a:extLst>
                </a:gridCol>
              </a:tblGrid>
              <a:tr h="38565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Métrique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Résultat final - Lloyd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Résultat final - CNN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115064"/>
                  </a:ext>
                </a:extLst>
              </a:tr>
              <a:tr h="746446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Couverture Finale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98.5 %​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90.70 %​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1813133"/>
                  </a:ext>
                </a:extLst>
              </a:tr>
              <a:tr h="77132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Variance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5.556​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5.000​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2215741"/>
                  </a:ext>
                </a:extLst>
              </a:tr>
              <a:tr h="771325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Coût Total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2.2313​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2.0558​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2838115"/>
                  </a:ext>
                </a:extLst>
              </a:tr>
              <a:tr h="684238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Nombre de drones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650"/>
                        </a:lnSpc>
                        <a:buNone/>
                      </a:pP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8​</a:t>
                      </a:r>
                      <a:endParaRPr lang="fr-FR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153770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89E4C375-A2F8-9771-E101-EAB61D377ED8}"/>
              </a:ext>
            </a:extLst>
          </p:cNvPr>
          <p:cNvSpPr txBox="1"/>
          <p:nvPr/>
        </p:nvSpPr>
        <p:spPr>
          <a:xfrm>
            <a:off x="-68774" y="4472576"/>
            <a:ext cx="10819632" cy="2251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fr-FR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Les résultats de simulations montrent que</a:t>
            </a:r>
            <a:r>
              <a:rPr lang="fr-FR" sz="2400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400" b="1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fr-FR" sz="2400" b="1" noProof="0" dirty="0" err="1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orsque</a:t>
            </a:r>
            <a:r>
              <a:rPr lang="fr-FR" sz="2400" b="1" noProof="0" dirty="0">
                <a:solidFill>
                  <a:srgbClr val="00206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le nombre de cibles augmente :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noProof="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Les performances de Lloyd diminuent progressivement.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noProof="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Le CNN conserve une meilleure qualité de couverture.</a:t>
            </a:r>
          </a:p>
          <a:p>
            <a:pPr marL="742950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400" noProof="0" dirty="0">
                <a:effectLst/>
                <a:latin typeface="Calibri" panose="020F0502020204030204" pitchFamily="34" charset="0"/>
                <a:ea typeface="Cambria" panose="02040503050406030204" pitchFamily="18" charset="0"/>
                <a:cs typeface="Calibri" panose="020F0502020204030204" pitchFamily="34" charset="0"/>
              </a:rPr>
              <a:t>L'équilibrage de charge reste plus efficace avec le CNN</a:t>
            </a:r>
          </a:p>
        </p:txBody>
      </p:sp>
      <p:sp>
        <p:nvSpPr>
          <p:cNvPr id="3" name="ZoneTexte 1">
            <a:extLst>
              <a:ext uri="{FF2B5EF4-FFF2-40B4-BE49-F238E27FC236}">
                <a16:creationId xmlns:a16="http://schemas.microsoft.com/office/drawing/2014/main" id="{65CB53A6-B821-01B6-3D37-F8B012BC14D3}"/>
              </a:ext>
            </a:extLst>
          </p:cNvPr>
          <p:cNvSpPr txBox="1"/>
          <p:nvPr/>
        </p:nvSpPr>
        <p:spPr>
          <a:xfrm>
            <a:off x="1" y="-35511"/>
            <a:ext cx="95257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400" b="1" dirty="0">
                <a:solidFill>
                  <a:srgbClr val="002060"/>
                </a:solidFill>
                <a:latin typeface="Calibri"/>
                <a:ea typeface="Calibri"/>
                <a:cs typeface="Calibri"/>
              </a:rPr>
              <a:t>Résultats de comparaison du déploiement initial des drones dans un scénario à grande échelle</a:t>
            </a:r>
            <a:endParaRPr lang="fr-FR" sz="2400" b="1" noProof="0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123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D50CC12-35A6-3BAC-1281-6B64862DDD7E}"/>
              </a:ext>
            </a:extLst>
          </p:cNvPr>
          <p:cNvSpPr txBox="1"/>
          <p:nvPr/>
        </p:nvSpPr>
        <p:spPr>
          <a:xfrm>
            <a:off x="682778" y="977235"/>
            <a:ext cx="10401300" cy="11430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sz="2400" i="0" noProof="0" dirty="0">
                <a:solidFill>
                  <a:srgbClr val="121212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Les résultats montrent que les trois méthodes permettent d'assurer la visite des cibles, mais avec des performances différentes.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71589-E332-8839-D649-0D68BAFD6FF8}"/>
              </a:ext>
            </a:extLst>
          </p:cNvPr>
          <p:cNvSpPr txBox="1"/>
          <p:nvPr/>
        </p:nvSpPr>
        <p:spPr>
          <a:xfrm>
            <a:off x="550234" y="175037"/>
            <a:ext cx="105055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Comparaison des méthodes de visite des cibles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86CFE0-06F6-EF19-0C32-1B7B61726128}"/>
              </a:ext>
            </a:extLst>
          </p:cNvPr>
          <p:cNvSpPr txBox="1"/>
          <p:nvPr/>
        </p:nvSpPr>
        <p:spPr>
          <a:xfrm>
            <a:off x="5996763" y="6472719"/>
            <a:ext cx="6103088" cy="40011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>
                <a:latin typeface="Calibri"/>
                <a:ea typeface="Calibri"/>
                <a:cs typeface="Calibri"/>
              </a:rPr>
              <a:t>34</a:t>
            </a:r>
            <a:r>
              <a:rPr lang="fr-FR" sz="2000" b="1" noProof="0" dirty="0">
                <a:latin typeface="Calibri"/>
                <a:ea typeface="Calibri"/>
                <a:cs typeface="Calibri"/>
              </a:rPr>
              <a:t>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2000" b="1" noProof="0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2" name="Tableau 1">
            <a:extLst>
              <a:ext uri="{FF2B5EF4-FFF2-40B4-BE49-F238E27FC236}">
                <a16:creationId xmlns:a16="http://schemas.microsoft.com/office/drawing/2014/main" id="{D47B01B1-9058-0A94-7DDB-423D91AFE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956514"/>
              </p:ext>
            </p:extLst>
          </p:nvPr>
        </p:nvGraphicFramePr>
        <p:xfrm>
          <a:off x="682778" y="2459507"/>
          <a:ext cx="10505565" cy="3966900"/>
        </p:xfrm>
        <a:graphic>
          <a:graphicData uri="http://schemas.openxmlformats.org/drawingml/2006/table">
            <a:tbl>
              <a:tblPr/>
              <a:tblGrid>
                <a:gridCol w="1892387">
                  <a:extLst>
                    <a:ext uri="{9D8B030D-6E8A-4147-A177-3AD203B41FA5}">
                      <a16:colId xmlns:a16="http://schemas.microsoft.com/office/drawing/2014/main" val="2844127120"/>
                    </a:ext>
                  </a:extLst>
                </a:gridCol>
                <a:gridCol w="8613178">
                  <a:extLst>
                    <a:ext uri="{9D8B030D-6E8A-4147-A177-3AD203B41FA5}">
                      <a16:colId xmlns:a16="http://schemas.microsoft.com/office/drawing/2014/main" val="1861437717"/>
                    </a:ext>
                  </a:extLst>
                </a:gridCol>
              </a:tblGrid>
              <a:tr h="709822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Méthode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sz="1800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572" marR="75572" marT="37786" marB="37786"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fr-FR" sz="1800" b="1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Comportement observé</a:t>
                      </a: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sz="1800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572" marR="75572" marT="37786" marB="37786"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9904474"/>
                  </a:ext>
                </a:extLst>
              </a:tr>
              <a:tr h="99639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fr-FR" sz="2400" b="1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P/D</a:t>
                      </a:r>
                      <a:r>
                        <a:rPr lang="fr-FR" sz="24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sz="2400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572" marR="75572" marT="37786" marB="37786"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fr-FR" sz="20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Privilégie principalement les cibles proches, ce qui peut réduire la qualité de surveillance des cibles importantes.​</a:t>
                      </a:r>
                      <a:endParaRPr lang="fr-FR" sz="2000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572" marR="75572" marT="37786" marB="37786"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578808"/>
                  </a:ext>
                </a:extLst>
              </a:tr>
              <a:tr h="109729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fr-FR" sz="2400" b="1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PVE</a:t>
                      </a:r>
                      <a:r>
                        <a:rPr lang="fr-FR" sz="24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sz="2400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572" marR="75572" marT="37786" marB="37786"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Engendre la consommation d'énergie la plus faible. Le drone optimise naturellement ses déplacements en suivant les zones à fort potentiel.</a:t>
                      </a:r>
                    </a:p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cette méthode n'offre pas de garantie stricte de revisite, contrairement à PDP.</a:t>
                      </a:r>
                    </a:p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r>
                        <a:rPr lang="fr-FR" sz="18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sz="1800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572" marR="75572" marT="37786" marB="37786"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817657"/>
                  </a:ext>
                </a:extLst>
              </a:tr>
              <a:tr h="996393">
                <a:tc>
                  <a:txBody>
                    <a:bodyPr/>
                    <a:lstStyle/>
                    <a:p>
                      <a:pPr algn="ctr" rtl="0" fontAlgn="base">
                        <a:lnSpc>
                          <a:spcPct val="100000"/>
                        </a:lnSpc>
                        <a:buNone/>
                      </a:pPr>
                      <a:r>
                        <a:rPr lang="fr-FR" sz="2400" b="1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PDP</a:t>
                      </a:r>
                      <a:r>
                        <a:rPr lang="fr-FR" sz="2400" b="0" i="0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​</a:t>
                      </a:r>
                      <a:endParaRPr lang="fr-FR" sz="2400" b="0" i="0" noProof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5572" marR="75572" marT="37786" marB="37786"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000" b="0" kern="120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C'est la seule méthode qui garantit un nombre de visites requis par cible, selon sa priorité. Elle offre ainsi la surveillance la plus rigoureuse et la plus équitable.</a:t>
                      </a:r>
                    </a:p>
                    <a:p>
                      <a:pPr algn="l" rtl="0" fontAlgn="base">
                        <a:lnSpc>
                          <a:spcPct val="100000"/>
                        </a:lnSpc>
                        <a:buNone/>
                      </a:pPr>
                      <a:endParaRPr lang="fr-FR" sz="1800" b="0" i="0" noProof="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75572" marR="75572" marT="37786" marB="37786" anchor="ctr">
                    <a:lnL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71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8976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517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prism isInverted="1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ED0E55-8ED7-0A2A-0FDC-A3D46AA546A3}"/>
              </a:ext>
            </a:extLst>
          </p:cNvPr>
          <p:cNvSpPr txBox="1"/>
          <p:nvPr/>
        </p:nvSpPr>
        <p:spPr>
          <a:xfrm>
            <a:off x="826682" y="485185"/>
            <a:ext cx="697761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ADBBAFB-8C67-B0F7-9ED1-66DE527FDDB3}"/>
              </a:ext>
            </a:extLst>
          </p:cNvPr>
          <p:cNvSpPr txBox="1"/>
          <p:nvPr/>
        </p:nvSpPr>
        <p:spPr>
          <a:xfrm>
            <a:off x="992635" y="1192598"/>
            <a:ext cx="9986989" cy="51961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Approche en 3 étapes : configuration, visite et maintenance énergie.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Optimisation de la couverture multi-UAV. 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Le CNN offre de meilleures performances que Lloyd dans les environnements complexes.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La stratégie PDP obtient les meilleurs résultats.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Prise en compte des poids et priorité des cibles lors de la visite.</a:t>
            </a:r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FR" sz="2800" b="1" noProof="0" dirty="0">
                <a:latin typeface="Calibri" panose="020F0502020204030204" pitchFamily="34" charset="0"/>
                <a:cs typeface="Calibri" panose="020F0502020204030204" pitchFamily="34" charset="0"/>
              </a:rPr>
              <a:t>Surveillance précise, fiable et traçable.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5A78707-1EA0-7A05-CAD1-BCFDF0728E42}"/>
              </a:ext>
            </a:extLst>
          </p:cNvPr>
          <p:cNvSpPr txBox="1"/>
          <p:nvPr/>
        </p:nvSpPr>
        <p:spPr>
          <a:xfrm>
            <a:off x="5986130" y="6388764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35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38110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>
            <a:extLst>
              <a:ext uri="{FF2B5EF4-FFF2-40B4-BE49-F238E27FC236}">
                <a16:creationId xmlns:a16="http://schemas.microsoft.com/office/drawing/2014/main" id="{D78A7200-B047-D121-7E6E-8840CCB10535}"/>
              </a:ext>
            </a:extLst>
          </p:cNvPr>
          <p:cNvSpPr/>
          <p:nvPr/>
        </p:nvSpPr>
        <p:spPr>
          <a:xfrm rot="900000">
            <a:off x="-274320" y="4572000"/>
            <a:ext cx="1188720" cy="2194560"/>
          </a:xfrm>
          <a:prstGeom prst="line">
            <a:avLst/>
          </a:prstGeom>
          <a:noFill/>
          <a:ln w="13970">
            <a:solidFill>
              <a:srgbClr val="BFAE7E">
                <a:alpha val="7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AAAABFE1-06B7-5FC5-097F-6DDFB2535FCF}"/>
              </a:ext>
            </a:extLst>
          </p:cNvPr>
          <p:cNvSpPr/>
          <p:nvPr/>
        </p:nvSpPr>
        <p:spPr>
          <a:xfrm rot="720000">
            <a:off x="-164592" y="4800600"/>
            <a:ext cx="1051560" cy="1920240"/>
          </a:xfrm>
          <a:prstGeom prst="line">
            <a:avLst/>
          </a:prstGeom>
          <a:noFill/>
          <a:ln w="13970">
            <a:solidFill>
              <a:srgbClr val="BFAE7E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3AC53BFE-FA41-86F6-7C48-2A862673F395}"/>
              </a:ext>
            </a:extLst>
          </p:cNvPr>
          <p:cNvSpPr/>
          <p:nvPr/>
        </p:nvSpPr>
        <p:spPr>
          <a:xfrm rot="540000">
            <a:off x="-54864" y="5029200"/>
            <a:ext cx="914400" cy="1645920"/>
          </a:xfrm>
          <a:prstGeom prst="line">
            <a:avLst/>
          </a:prstGeom>
          <a:noFill/>
          <a:ln w="13970">
            <a:solidFill>
              <a:srgbClr val="BFAE7E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3">
            <a:extLst>
              <a:ext uri="{FF2B5EF4-FFF2-40B4-BE49-F238E27FC236}">
                <a16:creationId xmlns:a16="http://schemas.microsoft.com/office/drawing/2014/main" id="{68217F2A-086E-FD9D-D4DD-C143CDF4967E}"/>
              </a:ext>
            </a:extLst>
          </p:cNvPr>
          <p:cNvSpPr/>
          <p:nvPr/>
        </p:nvSpPr>
        <p:spPr>
          <a:xfrm rot="360000">
            <a:off x="54864" y="5257800"/>
            <a:ext cx="777240" cy="1371600"/>
          </a:xfrm>
          <a:prstGeom prst="line">
            <a:avLst/>
          </a:prstGeom>
          <a:noFill/>
          <a:ln w="13970">
            <a:solidFill>
              <a:srgbClr val="BFAE7E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441BE7FB-01B0-4664-061E-924AE96676CA}"/>
              </a:ext>
            </a:extLst>
          </p:cNvPr>
          <p:cNvSpPr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600" b="1" noProof="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fr-FR" sz="36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7CA97D71-8549-9B84-D24A-FE4DEC445977}"/>
              </a:ext>
            </a:extLst>
          </p:cNvPr>
          <p:cNvSpPr/>
          <p:nvPr/>
        </p:nvSpPr>
        <p:spPr>
          <a:xfrm>
            <a:off x="502920" y="1188720"/>
            <a:ext cx="11155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400" b="1" noProof="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Ces limitations ouvrent plusieurs perspectives de recherche prometteuses :</a:t>
            </a:r>
            <a:endParaRPr lang="fr-FR" sz="2400" b="1" noProof="0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DA540724-EDB4-7806-1432-811A399B5C7A}"/>
              </a:ext>
            </a:extLst>
          </p:cNvPr>
          <p:cNvSpPr/>
          <p:nvPr/>
        </p:nvSpPr>
        <p:spPr>
          <a:xfrm>
            <a:off x="495285" y="1809203"/>
            <a:ext cx="11155680" cy="896112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3294B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EC84242F-F47E-F17E-6D57-6B22A359EB69}"/>
              </a:ext>
            </a:extLst>
          </p:cNvPr>
          <p:cNvSpPr/>
          <p:nvPr/>
        </p:nvSpPr>
        <p:spPr>
          <a:xfrm>
            <a:off x="777240" y="197967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2200A6A4-91EB-5D8F-B682-915796058A49}"/>
              </a:ext>
            </a:extLst>
          </p:cNvPr>
          <p:cNvSpPr/>
          <p:nvPr/>
        </p:nvSpPr>
        <p:spPr>
          <a:xfrm>
            <a:off x="777240" y="19796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800" noProof="0" dirty="0"/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58642275-B137-9F11-6619-24F5C31052C3}"/>
              </a:ext>
            </a:extLst>
          </p:cNvPr>
          <p:cNvSpPr/>
          <p:nvPr/>
        </p:nvSpPr>
        <p:spPr>
          <a:xfrm>
            <a:off x="1420649" y="1874520"/>
            <a:ext cx="37947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3D et flottes hétérogènes</a:t>
            </a:r>
            <a:endParaRPr lang="fr-FR" sz="2000" noProof="0" dirty="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3B878C64-29E0-18F6-53D9-89680CA2F053}"/>
              </a:ext>
            </a:extLst>
          </p:cNvPr>
          <p:cNvSpPr/>
          <p:nvPr/>
        </p:nvSpPr>
        <p:spPr>
          <a:xfrm>
            <a:off x="5303520" y="187452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fr-FR" b="1" noProof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Étendre l'approche à des environnements tridimensionnels et à des flottes de drones aux capacités diversifiées.</a:t>
            </a:r>
            <a:endParaRPr lang="fr-FR" b="1" noProof="0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54B26178-8DF2-492D-5AEE-BC28A414F714}"/>
              </a:ext>
            </a:extLst>
          </p:cNvPr>
          <p:cNvSpPr/>
          <p:nvPr/>
        </p:nvSpPr>
        <p:spPr>
          <a:xfrm>
            <a:off x="502920" y="2788920"/>
            <a:ext cx="11155680" cy="896112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3294B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B8B79836-166B-A707-FE2D-8E7A15DE3164}"/>
              </a:ext>
            </a:extLst>
          </p:cNvPr>
          <p:cNvSpPr/>
          <p:nvPr/>
        </p:nvSpPr>
        <p:spPr>
          <a:xfrm>
            <a:off x="777240" y="298551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B95FE9A8-455A-1312-7538-7488FD0DC5EE}"/>
              </a:ext>
            </a:extLst>
          </p:cNvPr>
          <p:cNvSpPr/>
          <p:nvPr/>
        </p:nvSpPr>
        <p:spPr>
          <a:xfrm>
            <a:off x="777240" y="29855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800" noProof="0" dirty="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E957D0B5-7247-30B2-B2B3-767CFC42DAC2}"/>
              </a:ext>
            </a:extLst>
          </p:cNvPr>
          <p:cNvSpPr/>
          <p:nvPr/>
        </p:nvSpPr>
        <p:spPr>
          <a:xfrm>
            <a:off x="1508760" y="288036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décentralisée</a:t>
            </a:r>
            <a:endParaRPr lang="fr-FR" sz="2000" noProof="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AC014B2-CB0A-33A8-E273-FBDF9633DEFA}"/>
              </a:ext>
            </a:extLst>
          </p:cNvPr>
          <p:cNvSpPr/>
          <p:nvPr/>
        </p:nvSpPr>
        <p:spPr>
          <a:xfrm>
            <a:off x="5303520" y="288036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fr-FR" b="1" noProof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des mécanismes de communication décentralisés pour renforcer la robustesse du système.</a:t>
            </a:r>
            <a:endParaRPr lang="fr-FR" b="1" noProof="0" dirty="0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2AAA4D00-673B-C1AF-CA51-04D75BE44A27}"/>
              </a:ext>
            </a:extLst>
          </p:cNvPr>
          <p:cNvSpPr/>
          <p:nvPr/>
        </p:nvSpPr>
        <p:spPr>
          <a:xfrm>
            <a:off x="502920" y="3794760"/>
            <a:ext cx="11155680" cy="896112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3294B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01B55345-4672-4AE1-67B7-FC272CAC0D62}"/>
              </a:ext>
            </a:extLst>
          </p:cNvPr>
          <p:cNvSpPr/>
          <p:nvPr/>
        </p:nvSpPr>
        <p:spPr>
          <a:xfrm>
            <a:off x="777240" y="399135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07D794FB-293A-5B21-2A12-012103DC9F81}"/>
              </a:ext>
            </a:extLst>
          </p:cNvPr>
          <p:cNvSpPr/>
          <p:nvPr/>
        </p:nvSpPr>
        <p:spPr>
          <a:xfrm>
            <a:off x="777240" y="39913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800" noProof="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E808E621-8A05-8DED-12AC-9914252D6EC8}"/>
              </a:ext>
            </a:extLst>
          </p:cNvPr>
          <p:cNvSpPr/>
          <p:nvPr/>
        </p:nvSpPr>
        <p:spPr>
          <a:xfrm>
            <a:off x="1508760" y="388620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Environnements GPS-dégradés</a:t>
            </a:r>
            <a:endParaRPr lang="fr-FR" sz="2000" noProof="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8A7EF87A-0CB5-FC75-5CDD-C02318C248A0}"/>
              </a:ext>
            </a:extLst>
          </p:cNvPr>
          <p:cNvSpPr/>
          <p:nvPr/>
        </p:nvSpPr>
        <p:spPr>
          <a:xfrm>
            <a:off x="5303520" y="388620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fr-FR" b="1" noProof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les algorithmes via des approches de localisation non visuelle par apprentissage profond.</a:t>
            </a:r>
            <a:endParaRPr lang="fr-FR" b="1" noProof="0" dirty="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95B890EF-DE7C-777A-F77D-F878D2D0DC31}"/>
              </a:ext>
            </a:extLst>
          </p:cNvPr>
          <p:cNvSpPr/>
          <p:nvPr/>
        </p:nvSpPr>
        <p:spPr>
          <a:xfrm>
            <a:off x="502920" y="4800600"/>
            <a:ext cx="11155680" cy="896112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3294B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7" name="Shape 23">
            <a:extLst>
              <a:ext uri="{FF2B5EF4-FFF2-40B4-BE49-F238E27FC236}">
                <a16:creationId xmlns:a16="http://schemas.microsoft.com/office/drawing/2014/main" id="{305598DE-780A-DA0F-A47F-C2BDBD1D417B}"/>
              </a:ext>
            </a:extLst>
          </p:cNvPr>
          <p:cNvSpPr/>
          <p:nvPr/>
        </p:nvSpPr>
        <p:spPr>
          <a:xfrm>
            <a:off x="777240" y="499719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88B1AD0F-6D0B-144A-7469-D721878D9249}"/>
              </a:ext>
            </a:extLst>
          </p:cNvPr>
          <p:cNvSpPr/>
          <p:nvPr/>
        </p:nvSpPr>
        <p:spPr>
          <a:xfrm>
            <a:off x="777240" y="49971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FR" sz="1800" noProof="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8B9510A7-4522-0575-E83A-7EEFD3C5E536}"/>
              </a:ext>
            </a:extLst>
          </p:cNvPr>
          <p:cNvSpPr/>
          <p:nvPr/>
        </p:nvSpPr>
        <p:spPr>
          <a:xfrm>
            <a:off x="1508760" y="489204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fédéré</a:t>
            </a:r>
            <a:endParaRPr lang="fr-FR" sz="2000" noProof="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D2A1D3B8-42F1-9DAF-037B-A1F8C6E7CD39}"/>
              </a:ext>
            </a:extLst>
          </p:cNvPr>
          <p:cNvSpPr/>
          <p:nvPr/>
        </p:nvSpPr>
        <p:spPr>
          <a:xfrm>
            <a:off x="5303519" y="4892040"/>
            <a:ext cx="6228573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fr-FR" b="1" noProof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l'apprentissage fédéré afin de préserver la confidentialité des données.</a:t>
            </a:r>
            <a:endParaRPr lang="fr-FR" b="1" noProof="0" dirty="0"/>
          </a:p>
        </p:txBody>
      </p:sp>
      <p:sp>
        <p:nvSpPr>
          <p:cNvPr id="31" name="Shape 27">
            <a:extLst>
              <a:ext uri="{FF2B5EF4-FFF2-40B4-BE49-F238E27FC236}">
                <a16:creationId xmlns:a16="http://schemas.microsoft.com/office/drawing/2014/main" id="{1891FE58-9155-37BF-5552-5BA9AB2D949C}"/>
              </a:ext>
            </a:extLst>
          </p:cNvPr>
          <p:cNvSpPr/>
          <p:nvPr/>
        </p:nvSpPr>
        <p:spPr>
          <a:xfrm>
            <a:off x="502920" y="5806440"/>
            <a:ext cx="11155680" cy="896112"/>
          </a:xfrm>
          <a:prstGeom prst="roundRect">
            <a:avLst>
              <a:gd name="adj" fmla="val 7143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5400000" algn="bl" rotWithShape="0">
              <a:srgbClr val="13294B">
                <a:alpha val="7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Shape 28">
            <a:extLst>
              <a:ext uri="{FF2B5EF4-FFF2-40B4-BE49-F238E27FC236}">
                <a16:creationId xmlns:a16="http://schemas.microsoft.com/office/drawing/2014/main" id="{3A74FFBA-AC22-16BF-45F9-9575D279B125}"/>
              </a:ext>
            </a:extLst>
          </p:cNvPr>
          <p:cNvSpPr/>
          <p:nvPr/>
        </p:nvSpPr>
        <p:spPr>
          <a:xfrm>
            <a:off x="777240" y="6003036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4959B12D-060C-8BCE-C6CD-717D475AE1C4}"/>
              </a:ext>
            </a:extLst>
          </p:cNvPr>
          <p:cNvSpPr/>
          <p:nvPr/>
        </p:nvSpPr>
        <p:spPr>
          <a:xfrm>
            <a:off x="777240" y="60030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8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fr-FR" sz="1800" noProof="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F821C552-C067-2B64-E826-2B048DF0B23F}"/>
              </a:ext>
            </a:extLst>
          </p:cNvPr>
          <p:cNvSpPr/>
          <p:nvPr/>
        </p:nvSpPr>
        <p:spPr>
          <a:xfrm>
            <a:off x="1508760" y="5897880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sur plateformes réelles</a:t>
            </a:r>
            <a:endParaRPr lang="fr-FR" sz="2000" noProof="0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C877BD0C-88FA-1D4F-084D-6DAFFB6D1B11}"/>
              </a:ext>
            </a:extLst>
          </p:cNvPr>
          <p:cNvSpPr/>
          <p:nvPr/>
        </p:nvSpPr>
        <p:spPr>
          <a:xfrm>
            <a:off x="5303520" y="5897880"/>
            <a:ext cx="6126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buNone/>
            </a:pPr>
            <a:r>
              <a:rPr lang="fr-FR" b="1" noProof="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étape essentielle pour confirmer la pertinence opérationnelle de l'approche.</a:t>
            </a:r>
            <a:endParaRPr lang="fr-FR" b="1" noProof="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068BCA-CACB-E812-591A-83572EC275B6}"/>
              </a:ext>
            </a:extLst>
          </p:cNvPr>
          <p:cNvSpPr txBox="1"/>
          <p:nvPr/>
        </p:nvSpPr>
        <p:spPr>
          <a:xfrm>
            <a:off x="5957715" y="6350199"/>
            <a:ext cx="6103088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indent="0" algn="r">
              <a:buNone/>
            </a:pPr>
            <a:r>
              <a:rPr lang="fr-FR" b="1" noProof="0" dirty="0">
                <a:latin typeface="Calibri"/>
                <a:ea typeface="Calibri"/>
                <a:cs typeface="Calibri"/>
              </a:rPr>
              <a:t>36</a:t>
            </a:r>
            <a:r>
              <a:rPr lang="fr-FR" sz="1800" b="1" noProof="0" dirty="0">
                <a:latin typeface="Calibri"/>
                <a:ea typeface="Calibri"/>
                <a:cs typeface="Calibri"/>
              </a:rPr>
              <a:t> / </a:t>
            </a:r>
            <a:r>
              <a:rPr lang="fr-FR" b="1" noProof="0" dirty="0">
                <a:latin typeface="Calibri"/>
                <a:ea typeface="Calibri"/>
                <a:cs typeface="Calibri"/>
              </a:rPr>
              <a:t>37</a:t>
            </a:r>
            <a:endParaRPr lang="fr-FR" sz="1800" b="1" noProof="0" dirty="0"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6712510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989C074-FD8F-795F-FB92-DC6A34C8D96D}"/>
              </a:ext>
            </a:extLst>
          </p:cNvPr>
          <p:cNvSpPr/>
          <p:nvPr/>
        </p:nvSpPr>
        <p:spPr>
          <a:xfrm rot="900000">
            <a:off x="-365760" y="4206240"/>
            <a:ext cx="1371600" cy="2560320"/>
          </a:xfrm>
          <a:prstGeom prst="line">
            <a:avLst/>
          </a:prstGeom>
          <a:noFill/>
          <a:ln w="13970">
            <a:solidFill>
              <a:srgbClr val="BFAE7E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6924D88-0440-C5A7-185D-E5A91F191732}"/>
              </a:ext>
            </a:extLst>
          </p:cNvPr>
          <p:cNvSpPr/>
          <p:nvPr/>
        </p:nvSpPr>
        <p:spPr>
          <a:xfrm rot="720000">
            <a:off x="-246888" y="4462272"/>
            <a:ext cx="1216152" cy="2240280"/>
          </a:xfrm>
          <a:prstGeom prst="line">
            <a:avLst/>
          </a:prstGeom>
          <a:noFill/>
          <a:ln w="13970">
            <a:solidFill>
              <a:srgbClr val="BFAE7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CC5F1888-8B48-80D9-36D6-B1192F0814FB}"/>
              </a:ext>
            </a:extLst>
          </p:cNvPr>
          <p:cNvSpPr/>
          <p:nvPr/>
        </p:nvSpPr>
        <p:spPr>
          <a:xfrm rot="540000">
            <a:off x="-128016" y="4718304"/>
            <a:ext cx="1060704" cy="1920240"/>
          </a:xfrm>
          <a:prstGeom prst="line">
            <a:avLst/>
          </a:prstGeom>
          <a:noFill/>
          <a:ln w="13970">
            <a:solidFill>
              <a:srgbClr val="BFAE7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4D7886D-C620-76DC-7DEB-3E859E175329}"/>
              </a:ext>
            </a:extLst>
          </p:cNvPr>
          <p:cNvSpPr/>
          <p:nvPr/>
        </p:nvSpPr>
        <p:spPr>
          <a:xfrm rot="360000">
            <a:off x="-9144" y="4974336"/>
            <a:ext cx="905256" cy="1600200"/>
          </a:xfrm>
          <a:prstGeom prst="line">
            <a:avLst/>
          </a:prstGeom>
          <a:noFill/>
          <a:ln w="13970">
            <a:solidFill>
              <a:srgbClr val="BFAE7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8D594C2-D240-DB35-47B9-FB795116C28E}"/>
              </a:ext>
            </a:extLst>
          </p:cNvPr>
          <p:cNvSpPr/>
          <p:nvPr/>
        </p:nvSpPr>
        <p:spPr>
          <a:xfrm rot="180000">
            <a:off x="109728" y="5230368"/>
            <a:ext cx="749808" cy="1280160"/>
          </a:xfrm>
          <a:prstGeom prst="line">
            <a:avLst/>
          </a:prstGeom>
          <a:noFill/>
          <a:ln w="13970">
            <a:solidFill>
              <a:srgbClr val="BFAE7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8835492-055A-BAB9-78EF-71E0789A1835}"/>
              </a:ext>
            </a:extLst>
          </p:cNvPr>
          <p:cNvSpPr/>
          <p:nvPr/>
        </p:nvSpPr>
        <p:spPr>
          <a:xfrm rot="12000000">
            <a:off x="11183112" y="-548640"/>
            <a:ext cx="1371600" cy="1828800"/>
          </a:xfrm>
          <a:prstGeom prst="line">
            <a:avLst/>
          </a:prstGeom>
          <a:noFill/>
          <a:ln w="12700">
            <a:solidFill>
              <a:srgbClr val="BFAE7E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A8C8DDA-3656-4401-48F8-9A75B8624CA4}"/>
              </a:ext>
            </a:extLst>
          </p:cNvPr>
          <p:cNvSpPr/>
          <p:nvPr/>
        </p:nvSpPr>
        <p:spPr>
          <a:xfrm rot="11820000">
            <a:off x="11064240" y="-548640"/>
            <a:ext cx="1216152" cy="1600200"/>
          </a:xfrm>
          <a:prstGeom prst="line">
            <a:avLst/>
          </a:prstGeom>
          <a:noFill/>
          <a:ln w="12700">
            <a:solidFill>
              <a:srgbClr val="BFAE7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E932E83-549E-1624-092C-3FCFEC374039}"/>
              </a:ext>
            </a:extLst>
          </p:cNvPr>
          <p:cNvSpPr/>
          <p:nvPr/>
        </p:nvSpPr>
        <p:spPr>
          <a:xfrm rot="11640000">
            <a:off x="10945368" y="-548640"/>
            <a:ext cx="1060704" cy="1371600"/>
          </a:xfrm>
          <a:prstGeom prst="line">
            <a:avLst/>
          </a:prstGeom>
          <a:noFill/>
          <a:ln w="12700">
            <a:solidFill>
              <a:srgbClr val="BFAE7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5664335-CA95-3F97-CB45-44C96323A9D0}"/>
              </a:ext>
            </a:extLst>
          </p:cNvPr>
          <p:cNvSpPr/>
          <p:nvPr/>
        </p:nvSpPr>
        <p:spPr>
          <a:xfrm rot="11460000">
            <a:off x="10826496" y="-548640"/>
            <a:ext cx="905256" cy="1143000"/>
          </a:xfrm>
          <a:prstGeom prst="line">
            <a:avLst/>
          </a:prstGeom>
          <a:noFill/>
          <a:ln w="12700">
            <a:solidFill>
              <a:srgbClr val="BFAE7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E5EAF77E-7BC7-7552-4993-C8C43FBB53F8}"/>
              </a:ext>
            </a:extLst>
          </p:cNvPr>
          <p:cNvSpPr/>
          <p:nvPr/>
        </p:nvSpPr>
        <p:spPr>
          <a:xfrm rot="11280000">
            <a:off x="10707624" y="-548640"/>
            <a:ext cx="749808" cy="914400"/>
          </a:xfrm>
          <a:prstGeom prst="line">
            <a:avLst/>
          </a:prstGeom>
          <a:noFill/>
          <a:ln w="12700">
            <a:solidFill>
              <a:srgbClr val="BFAE7E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BF592E3C-AF9D-E691-3B6D-61FB9C74E7C1}"/>
              </a:ext>
            </a:extLst>
          </p:cNvPr>
          <p:cNvSpPr/>
          <p:nvPr/>
        </p:nvSpPr>
        <p:spPr>
          <a:xfrm>
            <a:off x="-466491" y="1656783"/>
            <a:ext cx="121889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5400" b="1" noProof="0" dirty="0">
                <a:solidFill>
                  <a:schemeClr val="accent2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 pour votre attention</a:t>
            </a:r>
            <a:endParaRPr lang="fr-FR" sz="5400" noProof="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7A24C353-857C-2C79-F66C-2E9EFC86913A}"/>
              </a:ext>
            </a:extLst>
          </p:cNvPr>
          <p:cNvSpPr/>
          <p:nvPr/>
        </p:nvSpPr>
        <p:spPr>
          <a:xfrm>
            <a:off x="-516636" y="3498765"/>
            <a:ext cx="12188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fr-FR" sz="1900" noProof="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3113887-6AA7-88C8-783C-062A659BAB0B}"/>
              </a:ext>
            </a:extLst>
          </p:cNvPr>
          <p:cNvSpPr/>
          <p:nvPr/>
        </p:nvSpPr>
        <p:spPr>
          <a:xfrm>
            <a:off x="-406908" y="3182007"/>
            <a:ext cx="121889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800" b="1" noProof="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restons à votre disposition pour répondre à vos questions.</a:t>
            </a:r>
            <a:endParaRPr lang="fr-FR" sz="2800" b="1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5257403F-B931-574C-9E89-49ED7779BE2B}"/>
              </a:ext>
            </a:extLst>
          </p:cNvPr>
          <p:cNvSpPr/>
          <p:nvPr/>
        </p:nvSpPr>
        <p:spPr>
          <a:xfrm>
            <a:off x="0" y="598932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FR" sz="1100" noProof="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D8FF5E11-3ECC-6FCF-49A9-DCBB002A95C6}"/>
              </a:ext>
            </a:extLst>
          </p:cNvPr>
          <p:cNvSpPr/>
          <p:nvPr/>
        </p:nvSpPr>
        <p:spPr>
          <a:xfrm>
            <a:off x="0" y="62636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fr-FR" sz="1050" noProof="0" dirty="0"/>
          </a:p>
        </p:txBody>
      </p:sp>
    </p:spTree>
    <p:extLst>
      <p:ext uri="{BB962C8B-B14F-4D97-AF65-F5344CB8AC3E}">
        <p14:creationId xmlns:p14="http://schemas.microsoft.com/office/powerpoint/2010/main" val="2214324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8e42bf6-ed9d-49c0-a717-453b540273f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مستند" ma:contentTypeID="0x010100767248346C106B4085A1D9878E978626" ma:contentTypeVersion="15" ma:contentTypeDescription="إنشاء مستند جديد." ma:contentTypeScope="" ma:versionID="08b1692f17fc1a0299fc53c5e7aaaa97">
  <xsd:schema xmlns:xsd="http://www.w3.org/2001/XMLSchema" xmlns:xs="http://www.w3.org/2001/XMLSchema" xmlns:p="http://schemas.microsoft.com/office/2006/metadata/properties" xmlns:ns3="9400440b-d06a-4cba-a051-1a287d72fa23" xmlns:ns4="b8e42bf6-ed9d-49c0-a717-453b540273ff" targetNamespace="http://schemas.microsoft.com/office/2006/metadata/properties" ma:root="true" ma:fieldsID="96c5459d12e8d9244e9c9e685e473378" ns3:_="" ns4:_="">
    <xsd:import namespace="9400440b-d06a-4cba-a051-1a287d72fa23"/>
    <xsd:import namespace="b8e42bf6-ed9d-49c0-a717-453b540273ff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MediaServiceSearchProperties" minOccurs="0"/>
                <xsd:element ref="ns4:_activity" minOccurs="0"/>
                <xsd:element ref="ns4:MediaServiceObjectDetectorVersions" minOccurs="0"/>
                <xsd:element ref="ns4:MediaLengthInSeconds" minOccurs="0"/>
                <xsd:element ref="ns4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00440b-d06a-4cba-a051-1a287d72fa2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تمت مشاركته مع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مشتركة مع تفاصيل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تجزئة تلميح المشاركة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e42bf6-ed9d-49c0-a717-453b540273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9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نوع المحتوى"/>
        <xsd:element ref="dc:title" minOccurs="0" maxOccurs="1" ma:index="4" ma:displayName="العنوان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065879E-F4AD-4BFB-936E-C26488C30B1A}">
  <ds:schemaRefs>
    <ds:schemaRef ds:uri="http://schemas.microsoft.com/office/2006/metadata/properties"/>
    <ds:schemaRef ds:uri="http://www.w3.org/XML/1998/namespace"/>
    <ds:schemaRef ds:uri="http://purl.org/dc/dcmitype/"/>
    <ds:schemaRef ds:uri="http://purl.org/dc/terms/"/>
    <ds:schemaRef ds:uri="http://schemas.microsoft.com/office/2006/documentManagement/types"/>
    <ds:schemaRef ds:uri="http://purl.org/dc/elements/1.1/"/>
    <ds:schemaRef ds:uri="b8e42bf6-ed9d-49c0-a717-453b540273ff"/>
    <ds:schemaRef ds:uri="http://schemas.microsoft.com/office/infopath/2007/PartnerControls"/>
    <ds:schemaRef ds:uri="http://schemas.openxmlformats.org/package/2006/metadata/core-properties"/>
    <ds:schemaRef ds:uri="9400440b-d06a-4cba-a051-1a287d72fa23"/>
  </ds:schemaRefs>
</ds:datastoreItem>
</file>

<file path=customXml/itemProps2.xml><?xml version="1.0" encoding="utf-8"?>
<ds:datastoreItem xmlns:ds="http://schemas.openxmlformats.org/officeDocument/2006/customXml" ds:itemID="{385F487C-82EF-4B35-8C33-E53E0EB78B4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F328EF9-09E1-4653-B2DF-95F48220070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400440b-d06a-4cba-a051-1a287d72fa23"/>
    <ds:schemaRef ds:uri="b8e42bf6-ed9d-49c0-a717-453b540273f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1932</TotalTime>
  <Words>4660</Words>
  <Application>Microsoft Office PowerPoint</Application>
  <PresentationFormat>Widescreen</PresentationFormat>
  <Paragraphs>611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6" baseType="lpstr">
      <vt:lpstr>Arial</vt:lpstr>
      <vt:lpstr>Calibri</vt:lpstr>
      <vt:lpstr>Cambria</vt:lpstr>
      <vt:lpstr>Cambria Math</vt:lpstr>
      <vt:lpstr>Times New Roman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Optimisation du déploiement et de la couverture collaborative d'un système multi-UAV par les approches Lloyd et CNN</dc:title>
  <dc:subject>PptxGenJS Presentation</dc:subject>
  <dc:creator>CHADLI El Mehdi Ibrahim &amp; BERRABAH Mohamed Amine</dc:creator>
  <cp:lastModifiedBy>mohamed amine.berrabah</cp:lastModifiedBy>
  <cp:revision>15</cp:revision>
  <dcterms:created xsi:type="dcterms:W3CDTF">2026-06-19T17:55:28Z</dcterms:created>
  <dcterms:modified xsi:type="dcterms:W3CDTF">2026-06-24T12:46:33Z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0x010100767248346C106B4085A1D9878E978626</vt:lpwstr>
  </property>
</Properties>
</file>